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7" r:id="rId13"/>
    <p:sldId id="270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3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6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9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2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65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18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71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24" algn="l" defTabSz="91430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D36"/>
    <a:srgbClr val="F3F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4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4" y="3843709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1"/>
            </a:lvl1pPr>
            <a:lvl2pPr marL="457221" indent="0" algn="ctr">
              <a:buNone/>
              <a:defRPr sz="2000"/>
            </a:lvl2pPr>
            <a:lvl3pPr marL="914442" indent="0" algn="ctr">
              <a:buNone/>
              <a:defRPr sz="1801"/>
            </a:lvl3pPr>
            <a:lvl4pPr marL="1371663" indent="0" algn="ctr">
              <a:buNone/>
              <a:defRPr sz="1600"/>
            </a:lvl4pPr>
            <a:lvl5pPr marL="1828885" indent="0" algn="ctr">
              <a:buNone/>
              <a:defRPr sz="1600"/>
            </a:lvl5pPr>
            <a:lvl6pPr marL="2286106" indent="0" algn="ctr">
              <a:buNone/>
              <a:defRPr sz="1600"/>
            </a:lvl6pPr>
            <a:lvl7pPr marL="2743327" indent="0" algn="ctr">
              <a:buNone/>
              <a:defRPr sz="1600"/>
            </a:lvl7pPr>
            <a:lvl8pPr marL="3200548" indent="0" algn="ctr">
              <a:buNone/>
              <a:defRPr sz="1600"/>
            </a:lvl8pPr>
            <a:lvl9pPr marL="365776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6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5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7"/>
            <a:ext cx="8273140" cy="4008859"/>
          </a:xfrm>
        </p:spPr>
        <p:txBody>
          <a:bodyPr anchor="t">
            <a:normAutofit/>
          </a:bodyPr>
          <a:lstStyle>
            <a:lvl1pPr>
              <a:defRPr sz="540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2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8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2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7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21" indent="0">
              <a:buNone/>
              <a:defRPr sz="2000" b="1"/>
            </a:lvl2pPr>
            <a:lvl3pPr marL="914442" indent="0">
              <a:buNone/>
              <a:defRPr sz="1801" b="1"/>
            </a:lvl3pPr>
            <a:lvl4pPr marL="1371663" indent="0">
              <a:buNone/>
              <a:defRPr sz="1600" b="1"/>
            </a:lvl4pPr>
            <a:lvl5pPr marL="1828885" indent="0">
              <a:buNone/>
              <a:defRPr sz="1600" b="1"/>
            </a:lvl5pPr>
            <a:lvl6pPr marL="2286106" indent="0">
              <a:buNone/>
              <a:defRPr sz="1600" b="1"/>
            </a:lvl6pPr>
            <a:lvl7pPr marL="2743327" indent="0">
              <a:buNone/>
              <a:defRPr sz="1600" b="1"/>
            </a:lvl7pPr>
            <a:lvl8pPr marL="3200548" indent="0">
              <a:buNone/>
              <a:defRPr sz="1600" b="1"/>
            </a:lvl8pPr>
            <a:lvl9pPr marL="36577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1" y="2386895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21" indent="0">
              <a:buNone/>
              <a:defRPr sz="2000" b="1"/>
            </a:lvl2pPr>
            <a:lvl3pPr marL="914442" indent="0">
              <a:buNone/>
              <a:defRPr sz="1801" b="1"/>
            </a:lvl3pPr>
            <a:lvl4pPr marL="1371663" indent="0">
              <a:buNone/>
              <a:defRPr sz="1600" b="1"/>
            </a:lvl4pPr>
            <a:lvl5pPr marL="1828885" indent="0">
              <a:buNone/>
              <a:defRPr sz="1600" b="1"/>
            </a:lvl5pPr>
            <a:lvl6pPr marL="2286106" indent="0">
              <a:buNone/>
              <a:defRPr sz="1600" b="1"/>
            </a:lvl6pPr>
            <a:lvl7pPr marL="2743327" indent="0">
              <a:buNone/>
              <a:defRPr sz="1600" b="1"/>
            </a:lvl7pPr>
            <a:lvl8pPr marL="3200548" indent="0">
              <a:buNone/>
              <a:defRPr sz="1600" b="1"/>
            </a:lvl8pPr>
            <a:lvl9pPr marL="36577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86895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9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1" y="553617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1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1"/>
            </a:lvl1pPr>
            <a:lvl2pPr marL="457221" indent="0">
              <a:buNone/>
              <a:defRPr sz="1401"/>
            </a:lvl2pPr>
            <a:lvl3pPr marL="914442" indent="0">
              <a:buNone/>
              <a:defRPr sz="1200"/>
            </a:lvl3pPr>
            <a:lvl4pPr marL="1371663" indent="0">
              <a:buNone/>
              <a:defRPr sz="1001"/>
            </a:lvl4pPr>
            <a:lvl5pPr marL="1828885" indent="0">
              <a:buNone/>
              <a:defRPr sz="1001"/>
            </a:lvl5pPr>
            <a:lvl6pPr marL="2286106" indent="0">
              <a:buNone/>
              <a:defRPr sz="1001"/>
            </a:lvl6pPr>
            <a:lvl7pPr marL="2743327" indent="0">
              <a:buNone/>
              <a:defRPr sz="1001"/>
            </a:lvl7pPr>
            <a:lvl8pPr marL="3200548" indent="0">
              <a:buNone/>
              <a:defRPr sz="1001"/>
            </a:lvl8pPr>
            <a:lvl9pPr marL="365776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4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557785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20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21" indent="0">
              <a:buNone/>
              <a:defRPr sz="2800"/>
            </a:lvl2pPr>
            <a:lvl3pPr marL="914442" indent="0">
              <a:buNone/>
              <a:defRPr sz="2400"/>
            </a:lvl3pPr>
            <a:lvl4pPr marL="1371663" indent="0">
              <a:buNone/>
              <a:defRPr sz="2000"/>
            </a:lvl4pPr>
            <a:lvl5pPr marL="1828885" indent="0">
              <a:buNone/>
              <a:defRPr sz="2000"/>
            </a:lvl5pPr>
            <a:lvl6pPr marL="2286106" indent="0">
              <a:buNone/>
              <a:defRPr sz="2000"/>
            </a:lvl6pPr>
            <a:lvl7pPr marL="2743327" indent="0">
              <a:buNone/>
              <a:defRPr sz="2000"/>
            </a:lvl7pPr>
            <a:lvl8pPr marL="3200548" indent="0">
              <a:buNone/>
              <a:defRPr sz="2000"/>
            </a:lvl8pPr>
            <a:lvl9pPr marL="365776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21" indent="0">
              <a:buNone/>
              <a:defRPr sz="1401"/>
            </a:lvl2pPr>
            <a:lvl3pPr marL="914442" indent="0">
              <a:buNone/>
              <a:defRPr sz="1200"/>
            </a:lvl3pPr>
            <a:lvl4pPr marL="1371663" indent="0">
              <a:buNone/>
              <a:defRPr sz="1001"/>
            </a:lvl4pPr>
            <a:lvl5pPr marL="1828885" indent="0">
              <a:buNone/>
              <a:defRPr sz="1001"/>
            </a:lvl5pPr>
            <a:lvl6pPr marL="2286106" indent="0">
              <a:buNone/>
              <a:defRPr sz="1001"/>
            </a:lvl6pPr>
            <a:lvl7pPr marL="2743327" indent="0">
              <a:buNone/>
              <a:defRPr sz="1001"/>
            </a:lvl7pPr>
            <a:lvl8pPr marL="3200548" indent="0">
              <a:buNone/>
              <a:defRPr sz="1001"/>
            </a:lvl8pPr>
            <a:lvl9pPr marL="365776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9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4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9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8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9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3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999A8DD2-C443-44AD-85B3-4CE72B962C5F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2" y="6453003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3" y="645300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A4FCA09-A334-4A38-8A78-E51DCD588A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3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txStyles>
    <p:titleStyle>
      <a:lvl1pPr algn="l" defTabSz="914442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2" rtl="0" eaLnBrk="1" latinLnBrk="0" hangingPunct="1">
        <a:lnSpc>
          <a:spcPct val="120000"/>
        </a:lnSpc>
        <a:spcBef>
          <a:spcPts val="10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1" indent="-228611" algn="l" defTabSz="914442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indent="-228611" algn="l" defTabSz="914442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2" indent="-228611" algn="l" defTabSz="914442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4pPr>
      <a:lvl5pPr marL="1143053" indent="-228611" algn="l" defTabSz="914442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17" indent="-228611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38" indent="-228611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59" indent="-228611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80" indent="-228611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1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2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3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5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06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27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48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69" algn="l" defTabSz="91444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6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92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E2D1B-2660-EA64-22A7-6720001B2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1" y="5288887"/>
            <a:ext cx="6052457" cy="528334"/>
          </a:xfrm>
        </p:spPr>
        <p:txBody>
          <a:bodyPr>
            <a:normAutofit fontScale="90000"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ORGANIZATION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D0B76-2F6B-2BAE-F2B2-8F8517FC7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4196" y="5817222"/>
            <a:ext cx="10381862" cy="393224"/>
          </a:xfrm>
        </p:spPr>
        <p:txBody>
          <a:bodyPr>
            <a:normAutofit fontScale="25000" lnSpcReduction="20000"/>
          </a:bodyPr>
          <a:lstStyle/>
          <a:p>
            <a:pPr algn="r"/>
            <a:r>
              <a:rPr lang="en-US" sz="6400" b="1" dirty="0"/>
              <a:t>Corporate Structure,  Process summary, Information flow, &amp; Cloud Management System (CMS)</a:t>
            </a:r>
          </a:p>
          <a:p>
            <a:pPr algn="r"/>
            <a:r>
              <a:rPr lang="en-US" sz="8000" b="1" dirty="0">
                <a:solidFill>
                  <a:schemeClr val="bg1"/>
                </a:solidFill>
              </a:rPr>
              <a:t>Congo</a:t>
            </a:r>
            <a:endParaRPr lang="en-US" sz="1600" b="1" u="sng" dirty="0">
              <a:solidFill>
                <a:srgbClr val="92D050"/>
              </a:solidFill>
            </a:endParaRPr>
          </a:p>
        </p:txBody>
      </p:sp>
      <p:pic>
        <p:nvPicPr>
          <p:cNvPr id="42" name="object 123">
            <a:extLst>
              <a:ext uri="{FF2B5EF4-FFF2-40B4-BE49-F238E27FC236}">
                <a16:creationId xmlns:a16="http://schemas.microsoft.com/office/drawing/2014/main" id="{25CE14B6-CF54-611F-8DE7-C6735195C08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2358" y="222058"/>
            <a:ext cx="941838" cy="5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0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1.0 	Corporate Structure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27" name="object 20">
            <a:extLst>
              <a:ext uri="{FF2B5EF4-FFF2-40B4-BE49-F238E27FC236}">
                <a16:creationId xmlns:a16="http://schemas.microsoft.com/office/drawing/2014/main" id="{1D22C305-CEBD-01A7-2197-69DDD012AC76}"/>
              </a:ext>
            </a:extLst>
          </p:cNvPr>
          <p:cNvSpPr/>
          <p:nvPr/>
        </p:nvSpPr>
        <p:spPr>
          <a:xfrm>
            <a:off x="5123662" y="2025303"/>
            <a:ext cx="1944675" cy="439169"/>
          </a:xfrm>
          <a:custGeom>
            <a:avLst/>
            <a:gdLst/>
            <a:ahLst/>
            <a:cxnLst/>
            <a:rect l="l" t="t" r="r" b="b"/>
            <a:pathLst>
              <a:path w="1327785" h="414655">
                <a:moveTo>
                  <a:pt x="1258316" y="0"/>
                </a:moveTo>
                <a:lnTo>
                  <a:pt x="69087" y="0"/>
                </a:lnTo>
                <a:lnTo>
                  <a:pt x="42219" y="5437"/>
                </a:lnTo>
                <a:lnTo>
                  <a:pt x="20256" y="20256"/>
                </a:lnTo>
                <a:lnTo>
                  <a:pt x="5437" y="42219"/>
                </a:lnTo>
                <a:lnTo>
                  <a:pt x="0" y="69087"/>
                </a:lnTo>
                <a:lnTo>
                  <a:pt x="0" y="345439"/>
                </a:lnTo>
                <a:lnTo>
                  <a:pt x="5437" y="372308"/>
                </a:lnTo>
                <a:lnTo>
                  <a:pt x="20256" y="394271"/>
                </a:lnTo>
                <a:lnTo>
                  <a:pt x="42219" y="409090"/>
                </a:lnTo>
                <a:lnTo>
                  <a:pt x="69087" y="414527"/>
                </a:lnTo>
                <a:lnTo>
                  <a:pt x="1258316" y="414527"/>
                </a:lnTo>
                <a:lnTo>
                  <a:pt x="1285184" y="409090"/>
                </a:lnTo>
                <a:lnTo>
                  <a:pt x="1307147" y="394271"/>
                </a:lnTo>
                <a:lnTo>
                  <a:pt x="1321966" y="372308"/>
                </a:lnTo>
                <a:lnTo>
                  <a:pt x="1327404" y="345439"/>
                </a:lnTo>
                <a:lnTo>
                  <a:pt x="1327404" y="69087"/>
                </a:lnTo>
                <a:lnTo>
                  <a:pt x="1321966" y="42219"/>
                </a:lnTo>
                <a:lnTo>
                  <a:pt x="1307147" y="20256"/>
                </a:lnTo>
                <a:lnTo>
                  <a:pt x="1285184" y="5437"/>
                </a:lnTo>
                <a:lnTo>
                  <a:pt x="1258316" y="0"/>
                </a:lnTo>
                <a:close/>
              </a:path>
            </a:pathLst>
          </a:custGeom>
          <a:solidFill>
            <a:srgbClr val="697D36"/>
          </a:solidFill>
        </p:spPr>
        <p:txBody>
          <a:bodyPr wrap="square" lIns="0" tIns="0" rIns="0" bIns="0" rtlCol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Texas</a:t>
            </a:r>
          </a:p>
          <a:p>
            <a:pPr algn="ctr"/>
            <a:r>
              <a:rPr lang="en-US" sz="1200" b="1" dirty="0"/>
              <a:t>OLIVE ENERGY LLC</a:t>
            </a:r>
            <a:endParaRPr sz="1200" b="1" dirty="0"/>
          </a:p>
        </p:txBody>
      </p:sp>
      <p:grpSp>
        <p:nvGrpSpPr>
          <p:cNvPr id="29" name="object 18">
            <a:extLst>
              <a:ext uri="{FF2B5EF4-FFF2-40B4-BE49-F238E27FC236}">
                <a16:creationId xmlns:a16="http://schemas.microsoft.com/office/drawing/2014/main" id="{93BD7794-E550-4A15-96E6-879BAF1F05D5}"/>
              </a:ext>
            </a:extLst>
          </p:cNvPr>
          <p:cNvGrpSpPr/>
          <p:nvPr/>
        </p:nvGrpSpPr>
        <p:grpSpPr>
          <a:xfrm>
            <a:off x="1513925" y="4361593"/>
            <a:ext cx="3955132" cy="730814"/>
            <a:chOff x="4411803" y="1345678"/>
            <a:chExt cx="3107773" cy="552864"/>
          </a:xfrm>
        </p:grpSpPr>
        <p:pic>
          <p:nvPicPr>
            <p:cNvPr id="30" name="object 19">
              <a:extLst>
                <a:ext uri="{FF2B5EF4-FFF2-40B4-BE49-F238E27FC236}">
                  <a16:creationId xmlns:a16="http://schemas.microsoft.com/office/drawing/2014/main" id="{4639274B-8974-658E-D3E7-07BE2BECEF5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B69A8144-B876-E23A-D370-DF974F5CE722}"/>
                </a:ext>
              </a:extLst>
            </p:cNvPr>
            <p:cNvSpPr/>
            <p:nvPr/>
          </p:nvSpPr>
          <p:spPr>
            <a:xfrm>
              <a:off x="6191791" y="1400627"/>
              <a:ext cx="1327785" cy="49791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PNR</a:t>
              </a:r>
            </a:p>
            <a:p>
              <a:pPr algn="ctr"/>
              <a:r>
                <a:rPr lang="en-US" sz="1200" b="1" dirty="0"/>
                <a:t>OLIVE ENERGY E&amp;P</a:t>
              </a:r>
            </a:p>
            <a:p>
              <a:pPr algn="ctr"/>
              <a:r>
                <a:rPr lang="en-US" sz="1050" b="1" dirty="0"/>
                <a:t>Asset Management</a:t>
              </a:r>
              <a:endParaRPr sz="1050" b="1" dirty="0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12648" y="881910"/>
            <a:ext cx="4353895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1.1 	Organizational Corporate Structure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F5CCAF3-9409-52DC-3E8B-3ECD9B927FD8}"/>
              </a:ext>
            </a:extLst>
          </p:cNvPr>
          <p:cNvCxnSpPr>
            <a:cxnSpLocks/>
          </p:cNvCxnSpPr>
          <p:nvPr/>
        </p:nvCxnSpPr>
        <p:spPr>
          <a:xfrm rot="5400000">
            <a:off x="5423511" y="3105569"/>
            <a:ext cx="1294894" cy="12700"/>
          </a:xfrm>
          <a:prstGeom prst="bentConnector3">
            <a:avLst>
              <a:gd name="adj1" fmla="val 115953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bject 20">
            <a:extLst>
              <a:ext uri="{FF2B5EF4-FFF2-40B4-BE49-F238E27FC236}">
                <a16:creationId xmlns:a16="http://schemas.microsoft.com/office/drawing/2014/main" id="{32FAA73E-1A60-8F80-5EC9-18E6E729E625}"/>
              </a:ext>
            </a:extLst>
          </p:cNvPr>
          <p:cNvSpPr/>
          <p:nvPr/>
        </p:nvSpPr>
        <p:spPr>
          <a:xfrm>
            <a:off x="7135636" y="4434230"/>
            <a:ext cx="1689816" cy="658178"/>
          </a:xfrm>
          <a:custGeom>
            <a:avLst/>
            <a:gdLst/>
            <a:ahLst/>
            <a:cxnLst/>
            <a:rect l="l" t="t" r="r" b="b"/>
            <a:pathLst>
              <a:path w="1327785" h="414655">
                <a:moveTo>
                  <a:pt x="1258316" y="0"/>
                </a:moveTo>
                <a:lnTo>
                  <a:pt x="69087" y="0"/>
                </a:lnTo>
                <a:lnTo>
                  <a:pt x="42219" y="5437"/>
                </a:lnTo>
                <a:lnTo>
                  <a:pt x="20256" y="20256"/>
                </a:lnTo>
                <a:lnTo>
                  <a:pt x="5437" y="42219"/>
                </a:lnTo>
                <a:lnTo>
                  <a:pt x="0" y="69087"/>
                </a:lnTo>
                <a:lnTo>
                  <a:pt x="0" y="345439"/>
                </a:lnTo>
                <a:lnTo>
                  <a:pt x="5437" y="372308"/>
                </a:lnTo>
                <a:lnTo>
                  <a:pt x="20256" y="394271"/>
                </a:lnTo>
                <a:lnTo>
                  <a:pt x="42219" y="409090"/>
                </a:lnTo>
                <a:lnTo>
                  <a:pt x="69087" y="414527"/>
                </a:lnTo>
                <a:lnTo>
                  <a:pt x="1258316" y="414527"/>
                </a:lnTo>
                <a:lnTo>
                  <a:pt x="1285184" y="409090"/>
                </a:lnTo>
                <a:lnTo>
                  <a:pt x="1307147" y="394271"/>
                </a:lnTo>
                <a:lnTo>
                  <a:pt x="1321966" y="372308"/>
                </a:lnTo>
                <a:lnTo>
                  <a:pt x="1327404" y="345439"/>
                </a:lnTo>
                <a:lnTo>
                  <a:pt x="1327404" y="69087"/>
                </a:lnTo>
                <a:lnTo>
                  <a:pt x="1321966" y="42219"/>
                </a:lnTo>
                <a:lnTo>
                  <a:pt x="1307147" y="20256"/>
                </a:lnTo>
                <a:lnTo>
                  <a:pt x="1285184" y="5437"/>
                </a:lnTo>
                <a:lnTo>
                  <a:pt x="1258316" y="0"/>
                </a:lnTo>
                <a:close/>
              </a:path>
            </a:pathLst>
          </a:custGeom>
          <a:solidFill>
            <a:srgbClr val="697D36"/>
          </a:solidFill>
        </p:spPr>
        <p:txBody>
          <a:bodyPr wrap="square" lIns="0" tIns="0" rIns="0" bIns="0" rtlCol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PNR</a:t>
            </a:r>
          </a:p>
          <a:p>
            <a:pPr algn="ctr"/>
            <a:r>
              <a:rPr lang="en-US" sz="1200" b="1" dirty="0"/>
              <a:t>OLIVE ENERGY Congo</a:t>
            </a:r>
          </a:p>
          <a:p>
            <a:pPr algn="ctr"/>
            <a:r>
              <a:rPr lang="en-US" sz="1050" b="1" dirty="0"/>
              <a:t>O&amp;G Service Provider</a:t>
            </a:r>
            <a:endParaRPr sz="105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329F058-8317-5E05-71DF-7F315E7D6619}"/>
              </a:ext>
            </a:extLst>
          </p:cNvPr>
          <p:cNvSpPr/>
          <p:nvPr/>
        </p:nvSpPr>
        <p:spPr>
          <a:xfrm>
            <a:off x="3157268" y="3944344"/>
            <a:ext cx="6478089" cy="1327923"/>
          </a:xfrm>
          <a:prstGeom prst="rect">
            <a:avLst/>
          </a:prstGeom>
          <a:noFill/>
          <a:ln w="28575"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7FB832-192C-5014-13EE-2715AE8273C8}"/>
              </a:ext>
            </a:extLst>
          </p:cNvPr>
          <p:cNvSpPr txBox="1"/>
          <p:nvPr/>
        </p:nvSpPr>
        <p:spPr>
          <a:xfrm>
            <a:off x="5253581" y="4039372"/>
            <a:ext cx="1684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CONGO</a:t>
            </a:r>
          </a:p>
        </p:txBody>
      </p:sp>
    </p:spTree>
    <p:extLst>
      <p:ext uri="{BB962C8B-B14F-4D97-AF65-F5344CB8AC3E}">
        <p14:creationId xmlns:p14="http://schemas.microsoft.com/office/powerpoint/2010/main" val="236420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2.0 	Operational Structure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grpSp>
        <p:nvGrpSpPr>
          <p:cNvPr id="25" name="object 18">
            <a:extLst>
              <a:ext uri="{FF2B5EF4-FFF2-40B4-BE49-F238E27FC236}">
                <a16:creationId xmlns:a16="http://schemas.microsoft.com/office/drawing/2014/main" id="{ACCDCAC8-8558-5A91-8723-3195B50252FE}"/>
              </a:ext>
            </a:extLst>
          </p:cNvPr>
          <p:cNvGrpSpPr/>
          <p:nvPr/>
        </p:nvGrpSpPr>
        <p:grpSpPr>
          <a:xfrm>
            <a:off x="4870677" y="1106447"/>
            <a:ext cx="1976134" cy="505939"/>
            <a:chOff x="4411803" y="1086611"/>
            <a:chExt cx="1529627" cy="477698"/>
          </a:xfrm>
        </p:grpSpPr>
        <p:pic>
          <p:nvPicPr>
            <p:cNvPr id="26" name="object 19">
              <a:extLst>
                <a:ext uri="{FF2B5EF4-FFF2-40B4-BE49-F238E27FC236}">
                  <a16:creationId xmlns:a16="http://schemas.microsoft.com/office/drawing/2014/main" id="{C8DECB43-A755-B11A-FD82-935EBCADAF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1D22C305-CEBD-01A7-2197-69DDD012AC76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BODs</a:t>
              </a:r>
            </a:p>
            <a:p>
              <a:pPr algn="ctr"/>
              <a:r>
                <a:rPr lang="pt-BR" sz="1200" b="1" dirty="0"/>
                <a:t>LLC, E&amp;P, OEC</a:t>
              </a: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08B119F8-598F-C5C1-54B0-BCD45521D5BD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4353895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2.1	Congo Operational Structure 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94D1352-AC92-B484-AC14-0AA92F7A5116}"/>
              </a:ext>
            </a:extLst>
          </p:cNvPr>
          <p:cNvCxnSpPr>
            <a:cxnSpLocks/>
          </p:cNvCxnSpPr>
          <p:nvPr/>
        </p:nvCxnSpPr>
        <p:spPr>
          <a:xfrm>
            <a:off x="5608952" y="2968656"/>
            <a:ext cx="1790794" cy="573233"/>
          </a:xfrm>
          <a:prstGeom prst="bentConnector3">
            <a:avLst>
              <a:gd name="adj1" fmla="val 100124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object 18">
            <a:extLst>
              <a:ext uri="{FF2B5EF4-FFF2-40B4-BE49-F238E27FC236}">
                <a16:creationId xmlns:a16="http://schemas.microsoft.com/office/drawing/2014/main" id="{4655771A-DB08-DAB0-8068-B1A540A04F33}"/>
              </a:ext>
            </a:extLst>
          </p:cNvPr>
          <p:cNvGrpSpPr/>
          <p:nvPr/>
        </p:nvGrpSpPr>
        <p:grpSpPr>
          <a:xfrm>
            <a:off x="6561927" y="3567300"/>
            <a:ext cx="1890837" cy="681903"/>
            <a:chOff x="4411803" y="1086611"/>
            <a:chExt cx="1529627" cy="477698"/>
          </a:xfrm>
        </p:grpSpPr>
        <p:pic>
          <p:nvPicPr>
            <p:cNvPr id="10" name="object 19">
              <a:extLst>
                <a:ext uri="{FF2B5EF4-FFF2-40B4-BE49-F238E27FC236}">
                  <a16:creationId xmlns:a16="http://schemas.microsoft.com/office/drawing/2014/main" id="{C5954F46-512C-2B23-C158-66F36CAA49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A8A56D47-8CF1-1D3A-F5C7-E918BFC4D070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International Operations</a:t>
              </a:r>
            </a:p>
            <a:p>
              <a:pPr algn="ctr"/>
              <a:r>
                <a:rPr lang="en-US" sz="1200" b="1" dirty="0"/>
                <a:t>Sama</a:t>
              </a:r>
              <a:endParaRPr sz="1200" b="1" dirty="0"/>
            </a:p>
          </p:txBody>
        </p:sp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0E10021A-9371-EAF3-AE7D-B700463C83FB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3" name="object 18">
            <a:extLst>
              <a:ext uri="{FF2B5EF4-FFF2-40B4-BE49-F238E27FC236}">
                <a16:creationId xmlns:a16="http://schemas.microsoft.com/office/drawing/2014/main" id="{C4B2092F-79D5-6529-79ED-FA0B9127B06A}"/>
              </a:ext>
            </a:extLst>
          </p:cNvPr>
          <p:cNvGrpSpPr/>
          <p:nvPr/>
        </p:nvGrpSpPr>
        <p:grpSpPr>
          <a:xfrm>
            <a:off x="5001118" y="1959994"/>
            <a:ext cx="1715254" cy="672808"/>
            <a:chOff x="4411803" y="1086611"/>
            <a:chExt cx="1529627" cy="477698"/>
          </a:xfrm>
        </p:grpSpPr>
        <p:pic>
          <p:nvPicPr>
            <p:cNvPr id="14" name="object 19">
              <a:extLst>
                <a:ext uri="{FF2B5EF4-FFF2-40B4-BE49-F238E27FC236}">
                  <a16:creationId xmlns:a16="http://schemas.microsoft.com/office/drawing/2014/main" id="{89DA069E-F5DF-EC96-912D-23D9341A25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CB421E4A-3D3C-F9F7-4FE9-F0788DB3B0E8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International Operations</a:t>
              </a:r>
            </a:p>
            <a:p>
              <a:pPr algn="ctr"/>
              <a:r>
                <a:rPr lang="en-US" sz="1200" b="1" dirty="0"/>
                <a:t>Ahmed </a:t>
              </a:r>
              <a:endParaRPr sz="1200" b="1" dirty="0"/>
            </a:p>
          </p:txBody>
        </p:sp>
        <p:sp>
          <p:nvSpPr>
            <p:cNvPr id="16" name="object 21">
              <a:extLst>
                <a:ext uri="{FF2B5EF4-FFF2-40B4-BE49-F238E27FC236}">
                  <a16:creationId xmlns:a16="http://schemas.microsoft.com/office/drawing/2014/main" id="{41F1AE07-4913-FA87-7FE6-CE933EF78BD1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6427F35D-63DC-F98F-4403-000CB4E8810A}"/>
              </a:ext>
            </a:extLst>
          </p:cNvPr>
          <p:cNvGrpSpPr/>
          <p:nvPr/>
        </p:nvGrpSpPr>
        <p:grpSpPr>
          <a:xfrm>
            <a:off x="3070943" y="3547347"/>
            <a:ext cx="1715254" cy="672808"/>
            <a:chOff x="4411803" y="1086611"/>
            <a:chExt cx="1529627" cy="477698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41656A63-07D3-8C53-192B-CFA152B9BC7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6C5AAE45-3C86-1CCD-D0AE-1F8ED199167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Technical Operations</a:t>
              </a:r>
            </a:p>
            <a:p>
              <a:pPr algn="ctr"/>
              <a:r>
                <a:rPr lang="en-US" sz="1200" b="1" dirty="0"/>
                <a:t>Ron</a:t>
              </a:r>
              <a:endParaRPr sz="1200" b="1" dirty="0"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CC702AFE-123E-9E4B-C112-BCDD701721A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1" name="object 18">
            <a:extLst>
              <a:ext uri="{FF2B5EF4-FFF2-40B4-BE49-F238E27FC236}">
                <a16:creationId xmlns:a16="http://schemas.microsoft.com/office/drawing/2014/main" id="{38CD6AD2-DBD2-31B5-E493-7E46B34FCA3A}"/>
              </a:ext>
            </a:extLst>
          </p:cNvPr>
          <p:cNvGrpSpPr/>
          <p:nvPr/>
        </p:nvGrpSpPr>
        <p:grpSpPr>
          <a:xfrm>
            <a:off x="346274" y="3567355"/>
            <a:ext cx="1715254" cy="672808"/>
            <a:chOff x="4411803" y="1086611"/>
            <a:chExt cx="1529627" cy="477698"/>
          </a:xfrm>
        </p:grpSpPr>
        <p:pic>
          <p:nvPicPr>
            <p:cNvPr id="22" name="object 19">
              <a:extLst>
                <a:ext uri="{FF2B5EF4-FFF2-40B4-BE49-F238E27FC236}">
                  <a16:creationId xmlns:a16="http://schemas.microsoft.com/office/drawing/2014/main" id="{C188CDA5-B807-9719-DB3D-2D9451CDE2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894D97EA-ED79-B290-EF9E-A729DF030183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Exploration (Geoscience)</a:t>
              </a:r>
            </a:p>
            <a:p>
              <a:pPr algn="ctr"/>
              <a:r>
                <a:rPr lang="en-US" sz="1200" b="1" dirty="0" err="1"/>
                <a:t>Kiram</a:t>
              </a:r>
              <a:endParaRPr sz="1200" b="1" dirty="0"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E793E293-C1D3-F252-75E2-02372C96D69A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8" name="object 18">
            <a:extLst>
              <a:ext uri="{FF2B5EF4-FFF2-40B4-BE49-F238E27FC236}">
                <a16:creationId xmlns:a16="http://schemas.microsoft.com/office/drawing/2014/main" id="{E46C18DE-48C6-4591-6BF4-76F318587A14}"/>
              </a:ext>
            </a:extLst>
          </p:cNvPr>
          <p:cNvGrpSpPr/>
          <p:nvPr/>
        </p:nvGrpSpPr>
        <p:grpSpPr>
          <a:xfrm>
            <a:off x="9368062" y="3545433"/>
            <a:ext cx="1890837" cy="681903"/>
            <a:chOff x="4411803" y="1086611"/>
            <a:chExt cx="1529627" cy="477698"/>
          </a:xfrm>
        </p:grpSpPr>
        <p:pic>
          <p:nvPicPr>
            <p:cNvPr id="39" name="object 19">
              <a:extLst>
                <a:ext uri="{FF2B5EF4-FFF2-40B4-BE49-F238E27FC236}">
                  <a16:creationId xmlns:a16="http://schemas.microsoft.com/office/drawing/2014/main" id="{F1201945-9330-9DC3-108E-D76FF354AE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40" name="object 20">
              <a:extLst>
                <a:ext uri="{FF2B5EF4-FFF2-40B4-BE49-F238E27FC236}">
                  <a16:creationId xmlns:a16="http://schemas.microsoft.com/office/drawing/2014/main" id="{2254A54C-AFDA-7EA7-3677-D05298065572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Country Manager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(Local Operations)</a:t>
              </a:r>
            </a:p>
            <a:p>
              <a:pPr algn="ctr"/>
              <a:r>
                <a:rPr lang="en-US" sz="1200" b="1" dirty="0" err="1"/>
                <a:t>Imane</a:t>
              </a:r>
              <a:endParaRPr sz="1200" b="1" dirty="0"/>
            </a:p>
          </p:txBody>
        </p:sp>
        <p:sp>
          <p:nvSpPr>
            <p:cNvPr id="41" name="object 21">
              <a:extLst>
                <a:ext uri="{FF2B5EF4-FFF2-40B4-BE49-F238E27FC236}">
                  <a16:creationId xmlns:a16="http://schemas.microsoft.com/office/drawing/2014/main" id="{2FAEAB74-B2C3-A826-D98C-E6B22BF0CD1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99972B3-FD96-DA70-275B-6967A3633B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61568" y="2960886"/>
            <a:ext cx="1875854" cy="581004"/>
          </a:xfrm>
          <a:prstGeom prst="bentConnector3">
            <a:avLst>
              <a:gd name="adj1" fmla="val 100353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536E3D3-911E-0B0C-02F3-9AECD518C4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72382" y="2958064"/>
            <a:ext cx="2864646" cy="590393"/>
          </a:xfrm>
          <a:prstGeom prst="bentConnector3">
            <a:avLst>
              <a:gd name="adj1" fmla="val 100225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1205E81-A9D4-4320-D702-1DECAD43ABAA}"/>
              </a:ext>
            </a:extLst>
          </p:cNvPr>
          <p:cNvCxnSpPr>
            <a:cxnSpLocks/>
          </p:cNvCxnSpPr>
          <p:nvPr/>
        </p:nvCxnSpPr>
        <p:spPr>
          <a:xfrm>
            <a:off x="7407300" y="2968657"/>
            <a:ext cx="2764550" cy="612756"/>
          </a:xfrm>
          <a:prstGeom prst="bentConnector3">
            <a:avLst>
              <a:gd name="adj1" fmla="val 100163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455B710-F6A2-A4FC-7426-0B33A40A8CFF}"/>
              </a:ext>
            </a:extLst>
          </p:cNvPr>
          <p:cNvCxnSpPr>
            <a:cxnSpLocks/>
          </p:cNvCxnSpPr>
          <p:nvPr/>
        </p:nvCxnSpPr>
        <p:spPr>
          <a:xfrm>
            <a:off x="5754186" y="2544011"/>
            <a:ext cx="0" cy="423081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E9AAFE7-5E2D-367D-2D26-9DAF5E90D001}"/>
              </a:ext>
            </a:extLst>
          </p:cNvPr>
          <p:cNvCxnSpPr>
            <a:cxnSpLocks/>
          </p:cNvCxnSpPr>
          <p:nvPr/>
        </p:nvCxnSpPr>
        <p:spPr>
          <a:xfrm>
            <a:off x="5760393" y="1545616"/>
            <a:ext cx="0" cy="423081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object 18">
            <a:extLst>
              <a:ext uri="{FF2B5EF4-FFF2-40B4-BE49-F238E27FC236}">
                <a16:creationId xmlns:a16="http://schemas.microsoft.com/office/drawing/2014/main" id="{9E5F0503-4314-86D4-E822-6251DB9BE681}"/>
              </a:ext>
            </a:extLst>
          </p:cNvPr>
          <p:cNvGrpSpPr/>
          <p:nvPr/>
        </p:nvGrpSpPr>
        <p:grpSpPr>
          <a:xfrm>
            <a:off x="4052733" y="6087410"/>
            <a:ext cx="1616939" cy="210202"/>
            <a:chOff x="4427731" y="1086612"/>
            <a:chExt cx="1250882" cy="227953"/>
          </a:xfrm>
        </p:grpSpPr>
        <p:sp>
          <p:nvSpPr>
            <p:cNvPr id="81" name="object 20">
              <a:extLst>
                <a:ext uri="{FF2B5EF4-FFF2-40B4-BE49-F238E27FC236}">
                  <a16:creationId xmlns:a16="http://schemas.microsoft.com/office/drawing/2014/main" id="{19845D9E-63E3-0A42-D6B7-FD00B28D0238}"/>
                </a:ext>
              </a:extLst>
            </p:cNvPr>
            <p:cNvSpPr/>
            <p:nvPr/>
          </p:nvSpPr>
          <p:spPr>
            <a:xfrm>
              <a:off x="4427731" y="1086613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Asset Integrity</a:t>
              </a:r>
            </a:p>
          </p:txBody>
        </p:sp>
        <p:sp>
          <p:nvSpPr>
            <p:cNvPr id="82" name="object 21">
              <a:extLst>
                <a:ext uri="{FF2B5EF4-FFF2-40B4-BE49-F238E27FC236}">
                  <a16:creationId xmlns:a16="http://schemas.microsoft.com/office/drawing/2014/main" id="{E3535FB8-21C9-6B7F-A427-0AB26A4752FC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00" name="object 18">
            <a:extLst>
              <a:ext uri="{FF2B5EF4-FFF2-40B4-BE49-F238E27FC236}">
                <a16:creationId xmlns:a16="http://schemas.microsoft.com/office/drawing/2014/main" id="{C6B039EF-A396-77C9-49E6-32CF86698FBA}"/>
              </a:ext>
            </a:extLst>
          </p:cNvPr>
          <p:cNvGrpSpPr/>
          <p:nvPr/>
        </p:nvGrpSpPr>
        <p:grpSpPr>
          <a:xfrm>
            <a:off x="7573942" y="5663228"/>
            <a:ext cx="1616939" cy="210201"/>
            <a:chOff x="4427730" y="1086611"/>
            <a:chExt cx="1250882" cy="227952"/>
          </a:xfrm>
        </p:grpSpPr>
        <p:sp>
          <p:nvSpPr>
            <p:cNvPr id="101" name="object 20">
              <a:extLst>
                <a:ext uri="{FF2B5EF4-FFF2-40B4-BE49-F238E27FC236}">
                  <a16:creationId xmlns:a16="http://schemas.microsoft.com/office/drawing/2014/main" id="{629BE566-48E4-C6C0-06E6-26FBC7DB9DC0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Int. IT Control</a:t>
              </a:r>
            </a:p>
          </p:txBody>
        </p:sp>
        <p:sp>
          <p:nvSpPr>
            <p:cNvPr id="102" name="object 21">
              <a:extLst>
                <a:ext uri="{FF2B5EF4-FFF2-40B4-BE49-F238E27FC236}">
                  <a16:creationId xmlns:a16="http://schemas.microsoft.com/office/drawing/2014/main" id="{36A6383F-77E8-7045-9763-887796BA298F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CFE57D77-E106-B007-75CC-60C75CA12A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37193" y="5074538"/>
            <a:ext cx="2051078" cy="180002"/>
          </a:xfrm>
          <a:prstGeom prst="bentConnector3">
            <a:avLst>
              <a:gd name="adj1" fmla="val 100218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91D4BEA-8971-3555-3083-76E6B995C6DD}"/>
              </a:ext>
            </a:extLst>
          </p:cNvPr>
          <p:cNvGrpSpPr/>
          <p:nvPr/>
        </p:nvGrpSpPr>
        <p:grpSpPr>
          <a:xfrm>
            <a:off x="3872732" y="4389489"/>
            <a:ext cx="1796941" cy="1486526"/>
            <a:chOff x="3872731" y="4389489"/>
            <a:chExt cx="1796941" cy="1486526"/>
          </a:xfrm>
        </p:grpSpPr>
        <p:grpSp>
          <p:nvGrpSpPr>
            <p:cNvPr id="67" name="object 18">
              <a:extLst>
                <a:ext uri="{FF2B5EF4-FFF2-40B4-BE49-F238E27FC236}">
                  <a16:creationId xmlns:a16="http://schemas.microsoft.com/office/drawing/2014/main" id="{1E28D1DE-3CD0-14C7-EE41-DDE6367437C7}"/>
                </a:ext>
              </a:extLst>
            </p:cNvPr>
            <p:cNvGrpSpPr/>
            <p:nvPr/>
          </p:nvGrpSpPr>
          <p:grpSpPr>
            <a:xfrm>
              <a:off x="4052732" y="4389489"/>
              <a:ext cx="1616939" cy="210201"/>
              <a:chOff x="4427730" y="1086611"/>
              <a:chExt cx="1250882" cy="227952"/>
            </a:xfrm>
          </p:grpSpPr>
          <p:sp>
            <p:nvSpPr>
              <p:cNvPr id="69" name="object 20">
                <a:extLst>
                  <a:ext uri="{FF2B5EF4-FFF2-40B4-BE49-F238E27FC236}">
                    <a16:creationId xmlns:a16="http://schemas.microsoft.com/office/drawing/2014/main" id="{8E544621-B0F6-7DED-C51D-B576777D7E95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Drilling</a:t>
                </a:r>
              </a:p>
            </p:txBody>
          </p:sp>
          <p:sp>
            <p:nvSpPr>
              <p:cNvPr id="70" name="object 21">
                <a:extLst>
                  <a:ext uri="{FF2B5EF4-FFF2-40B4-BE49-F238E27FC236}">
                    <a16:creationId xmlns:a16="http://schemas.microsoft.com/office/drawing/2014/main" id="{27842DD3-31BD-DA06-F179-05BAAA9F613A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71" name="object 18">
              <a:extLst>
                <a:ext uri="{FF2B5EF4-FFF2-40B4-BE49-F238E27FC236}">
                  <a16:creationId xmlns:a16="http://schemas.microsoft.com/office/drawing/2014/main" id="{0128168D-3F42-C098-1F8C-C46861D53D4C}"/>
                </a:ext>
              </a:extLst>
            </p:cNvPr>
            <p:cNvGrpSpPr/>
            <p:nvPr/>
          </p:nvGrpSpPr>
          <p:grpSpPr>
            <a:xfrm>
              <a:off x="4052733" y="4812915"/>
              <a:ext cx="1616939" cy="210202"/>
              <a:chOff x="4427731" y="1086612"/>
              <a:chExt cx="1250882" cy="227953"/>
            </a:xfrm>
          </p:grpSpPr>
          <p:sp>
            <p:nvSpPr>
              <p:cNvPr id="72" name="object 20">
                <a:extLst>
                  <a:ext uri="{FF2B5EF4-FFF2-40B4-BE49-F238E27FC236}">
                    <a16:creationId xmlns:a16="http://schemas.microsoft.com/office/drawing/2014/main" id="{612916C0-53A0-56BB-0EA8-F6DA58920177}"/>
                  </a:ext>
                </a:extLst>
              </p:cNvPr>
              <p:cNvSpPr/>
              <p:nvPr/>
            </p:nvSpPr>
            <p:spPr>
              <a:xfrm>
                <a:off x="4427731" y="1086613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 err="1">
                    <a:solidFill>
                      <a:schemeClr val="bg1"/>
                    </a:solidFill>
                  </a:rPr>
                  <a:t>Fracing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object 21">
                <a:extLst>
                  <a:ext uri="{FF2B5EF4-FFF2-40B4-BE49-F238E27FC236}">
                    <a16:creationId xmlns:a16="http://schemas.microsoft.com/office/drawing/2014/main" id="{3156DE8D-2213-52F7-5E99-E5BB7D13AC41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74" name="object 18">
              <a:extLst>
                <a:ext uri="{FF2B5EF4-FFF2-40B4-BE49-F238E27FC236}">
                  <a16:creationId xmlns:a16="http://schemas.microsoft.com/office/drawing/2014/main" id="{823C4C89-4760-C6C1-0DDB-5068B94CB7EB}"/>
                </a:ext>
              </a:extLst>
            </p:cNvPr>
            <p:cNvGrpSpPr/>
            <p:nvPr/>
          </p:nvGrpSpPr>
          <p:grpSpPr>
            <a:xfrm>
              <a:off x="4052733" y="5239365"/>
              <a:ext cx="1616939" cy="210201"/>
              <a:chOff x="4427730" y="1086611"/>
              <a:chExt cx="1250882" cy="227952"/>
            </a:xfrm>
          </p:grpSpPr>
          <p:sp>
            <p:nvSpPr>
              <p:cNvPr id="75" name="object 20">
                <a:extLst>
                  <a:ext uri="{FF2B5EF4-FFF2-40B4-BE49-F238E27FC236}">
                    <a16:creationId xmlns:a16="http://schemas.microsoft.com/office/drawing/2014/main" id="{A873E8FB-F0A7-93E7-882F-97E821E29EF6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Well Services</a:t>
                </a:r>
              </a:p>
            </p:txBody>
          </p:sp>
          <p:sp>
            <p:nvSpPr>
              <p:cNvPr id="76" name="object 21">
                <a:extLst>
                  <a:ext uri="{FF2B5EF4-FFF2-40B4-BE49-F238E27FC236}">
                    <a16:creationId xmlns:a16="http://schemas.microsoft.com/office/drawing/2014/main" id="{21354852-AF81-4141-305F-5002CF7691F5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77" name="object 18">
              <a:extLst>
                <a:ext uri="{FF2B5EF4-FFF2-40B4-BE49-F238E27FC236}">
                  <a16:creationId xmlns:a16="http://schemas.microsoft.com/office/drawing/2014/main" id="{F889C2E6-316B-976C-7492-3E66584FB130}"/>
                </a:ext>
              </a:extLst>
            </p:cNvPr>
            <p:cNvGrpSpPr/>
            <p:nvPr/>
          </p:nvGrpSpPr>
          <p:grpSpPr>
            <a:xfrm>
              <a:off x="4052733" y="5665814"/>
              <a:ext cx="1616939" cy="210201"/>
              <a:chOff x="4427730" y="1086611"/>
              <a:chExt cx="1250882" cy="227952"/>
            </a:xfrm>
          </p:grpSpPr>
          <p:sp>
            <p:nvSpPr>
              <p:cNvPr id="78" name="object 20">
                <a:extLst>
                  <a:ext uri="{FF2B5EF4-FFF2-40B4-BE49-F238E27FC236}">
                    <a16:creationId xmlns:a16="http://schemas.microsoft.com/office/drawing/2014/main" id="{A62C7E1A-508F-31A7-660F-1628C944D21B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Production</a:t>
                </a:r>
              </a:p>
            </p:txBody>
          </p:sp>
          <p:sp>
            <p:nvSpPr>
              <p:cNvPr id="79" name="object 21">
                <a:extLst>
                  <a:ext uri="{FF2B5EF4-FFF2-40B4-BE49-F238E27FC236}">
                    <a16:creationId xmlns:a16="http://schemas.microsoft.com/office/drawing/2014/main" id="{1628C95E-D5A3-D3C6-3042-BF3F6942C94B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8F9ACA3A-61A2-A889-B7D5-AB9BB8F1ADB3}"/>
                </a:ext>
              </a:extLst>
            </p:cNvPr>
            <p:cNvCxnSpPr>
              <a:cxnSpLocks/>
            </p:cNvCxnSpPr>
            <p:nvPr/>
          </p:nvCxnSpPr>
          <p:spPr>
            <a:xfrm>
              <a:off x="3872731" y="4494588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76F628DE-C38C-5806-117C-C969BCAA67E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173" y="4912896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0E872A5-B9AE-8866-DAF0-0E6E2644A41B}"/>
                </a:ext>
              </a:extLst>
            </p:cNvPr>
            <p:cNvCxnSpPr>
              <a:cxnSpLocks/>
            </p:cNvCxnSpPr>
            <p:nvPr/>
          </p:nvCxnSpPr>
          <p:spPr>
            <a:xfrm>
              <a:off x="3872731" y="5343170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FE029216-DAFF-140A-D895-98ECE03EF493}"/>
                </a:ext>
              </a:extLst>
            </p:cNvPr>
            <p:cNvCxnSpPr>
              <a:cxnSpLocks/>
            </p:cNvCxnSpPr>
            <p:nvPr/>
          </p:nvCxnSpPr>
          <p:spPr>
            <a:xfrm>
              <a:off x="3872731" y="5768327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58D2750C-E725-AE30-6871-0B8BBCF252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3123" y="4857445"/>
            <a:ext cx="1636995" cy="183970"/>
          </a:xfrm>
          <a:prstGeom prst="bentConnector3">
            <a:avLst>
              <a:gd name="adj1" fmla="val 99698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8E76E90-C846-AAC7-32E5-5F3A3FE32762}"/>
              </a:ext>
            </a:extLst>
          </p:cNvPr>
          <p:cNvGrpSpPr/>
          <p:nvPr/>
        </p:nvGrpSpPr>
        <p:grpSpPr>
          <a:xfrm>
            <a:off x="1072383" y="4360000"/>
            <a:ext cx="1811713" cy="1481337"/>
            <a:chOff x="1061821" y="4394157"/>
            <a:chExt cx="1811713" cy="1481337"/>
          </a:xfrm>
        </p:grpSpPr>
        <p:grpSp>
          <p:nvGrpSpPr>
            <p:cNvPr id="83" name="object 18">
              <a:extLst>
                <a:ext uri="{FF2B5EF4-FFF2-40B4-BE49-F238E27FC236}">
                  <a16:creationId xmlns:a16="http://schemas.microsoft.com/office/drawing/2014/main" id="{7E2497CA-A7CD-8BFE-025C-6B77AB93E49D}"/>
                </a:ext>
              </a:extLst>
            </p:cNvPr>
            <p:cNvGrpSpPr/>
            <p:nvPr/>
          </p:nvGrpSpPr>
          <p:grpSpPr>
            <a:xfrm>
              <a:off x="1256595" y="4394157"/>
              <a:ext cx="1616939" cy="210201"/>
              <a:chOff x="4427730" y="1086611"/>
              <a:chExt cx="1250882" cy="227952"/>
            </a:xfrm>
          </p:grpSpPr>
          <p:sp>
            <p:nvSpPr>
              <p:cNvPr id="84" name="object 20">
                <a:extLst>
                  <a:ext uri="{FF2B5EF4-FFF2-40B4-BE49-F238E27FC236}">
                    <a16:creationId xmlns:a16="http://schemas.microsoft.com/office/drawing/2014/main" id="{D7373C7F-12F1-D923-84D9-82ED4CB84880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Geology</a:t>
                </a:r>
              </a:p>
            </p:txBody>
          </p:sp>
          <p:sp>
            <p:nvSpPr>
              <p:cNvPr id="85" name="object 21">
                <a:extLst>
                  <a:ext uri="{FF2B5EF4-FFF2-40B4-BE49-F238E27FC236}">
                    <a16:creationId xmlns:a16="http://schemas.microsoft.com/office/drawing/2014/main" id="{BA03F962-2949-6775-4956-14B44AEB90AC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86" name="object 18">
              <a:extLst>
                <a:ext uri="{FF2B5EF4-FFF2-40B4-BE49-F238E27FC236}">
                  <a16:creationId xmlns:a16="http://schemas.microsoft.com/office/drawing/2014/main" id="{B3B9D8F8-B777-7D45-8B55-0C79337BFF76}"/>
                </a:ext>
              </a:extLst>
            </p:cNvPr>
            <p:cNvGrpSpPr/>
            <p:nvPr/>
          </p:nvGrpSpPr>
          <p:grpSpPr>
            <a:xfrm>
              <a:off x="1256595" y="4812914"/>
              <a:ext cx="1616939" cy="210201"/>
              <a:chOff x="4427730" y="1086611"/>
              <a:chExt cx="1250882" cy="227952"/>
            </a:xfrm>
          </p:grpSpPr>
          <p:sp>
            <p:nvSpPr>
              <p:cNvPr id="87" name="object 20">
                <a:extLst>
                  <a:ext uri="{FF2B5EF4-FFF2-40B4-BE49-F238E27FC236}">
                    <a16:creationId xmlns:a16="http://schemas.microsoft.com/office/drawing/2014/main" id="{EC1D16A9-1D8E-C211-677C-0531ADA82E17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Geophysics</a:t>
                </a:r>
              </a:p>
            </p:txBody>
          </p:sp>
          <p:sp>
            <p:nvSpPr>
              <p:cNvPr id="88" name="object 21">
                <a:extLst>
                  <a:ext uri="{FF2B5EF4-FFF2-40B4-BE49-F238E27FC236}">
                    <a16:creationId xmlns:a16="http://schemas.microsoft.com/office/drawing/2014/main" id="{972A5DFB-132D-F8B8-D0B8-41245F6AE11F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89" name="object 18">
              <a:extLst>
                <a:ext uri="{FF2B5EF4-FFF2-40B4-BE49-F238E27FC236}">
                  <a16:creationId xmlns:a16="http://schemas.microsoft.com/office/drawing/2014/main" id="{B02003A8-0B7B-6CBB-191B-4E0BEB47F7B1}"/>
                </a:ext>
              </a:extLst>
            </p:cNvPr>
            <p:cNvGrpSpPr/>
            <p:nvPr/>
          </p:nvGrpSpPr>
          <p:grpSpPr>
            <a:xfrm>
              <a:off x="1256595" y="5239364"/>
              <a:ext cx="1616939" cy="210201"/>
              <a:chOff x="4427730" y="1086611"/>
              <a:chExt cx="1250882" cy="227952"/>
            </a:xfrm>
          </p:grpSpPr>
          <p:sp>
            <p:nvSpPr>
              <p:cNvPr id="90" name="object 20">
                <a:extLst>
                  <a:ext uri="{FF2B5EF4-FFF2-40B4-BE49-F238E27FC236}">
                    <a16:creationId xmlns:a16="http://schemas.microsoft.com/office/drawing/2014/main" id="{4E300608-BDFA-759E-725E-363D211C9062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Geomodelling</a:t>
                </a:r>
              </a:p>
            </p:txBody>
          </p:sp>
          <p:sp>
            <p:nvSpPr>
              <p:cNvPr id="91" name="object 21">
                <a:extLst>
                  <a:ext uri="{FF2B5EF4-FFF2-40B4-BE49-F238E27FC236}">
                    <a16:creationId xmlns:a16="http://schemas.microsoft.com/office/drawing/2014/main" id="{F44E4026-D35C-4392-F4F3-535021861E08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92" name="object 18">
              <a:extLst>
                <a:ext uri="{FF2B5EF4-FFF2-40B4-BE49-F238E27FC236}">
                  <a16:creationId xmlns:a16="http://schemas.microsoft.com/office/drawing/2014/main" id="{9B37B358-1C88-EB5F-F68C-9B06C3291258}"/>
                </a:ext>
              </a:extLst>
            </p:cNvPr>
            <p:cNvGrpSpPr/>
            <p:nvPr/>
          </p:nvGrpSpPr>
          <p:grpSpPr>
            <a:xfrm>
              <a:off x="1251041" y="5665293"/>
              <a:ext cx="1616939" cy="210201"/>
              <a:chOff x="4427730" y="1086611"/>
              <a:chExt cx="1250882" cy="227952"/>
            </a:xfrm>
          </p:grpSpPr>
          <p:sp>
            <p:nvSpPr>
              <p:cNvPr id="93" name="object 20">
                <a:extLst>
                  <a:ext uri="{FF2B5EF4-FFF2-40B4-BE49-F238E27FC236}">
                    <a16:creationId xmlns:a16="http://schemas.microsoft.com/office/drawing/2014/main" id="{FB14FA9A-D5C4-F2D6-65D4-D63B74717019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Data Management</a:t>
                </a:r>
              </a:p>
            </p:txBody>
          </p:sp>
          <p:sp>
            <p:nvSpPr>
              <p:cNvPr id="94" name="object 21">
                <a:extLst>
                  <a:ext uri="{FF2B5EF4-FFF2-40B4-BE49-F238E27FC236}">
                    <a16:creationId xmlns:a16="http://schemas.microsoft.com/office/drawing/2014/main" id="{739B0646-C847-9054-97DD-7CBFF13EBCE6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7887780B-EB32-7CAC-1DA4-50CD2DB2CA6C}"/>
                </a:ext>
              </a:extLst>
            </p:cNvPr>
            <p:cNvCxnSpPr>
              <a:cxnSpLocks/>
            </p:cNvCxnSpPr>
            <p:nvPr/>
          </p:nvCxnSpPr>
          <p:spPr>
            <a:xfrm>
              <a:off x="1065791" y="5343170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DE9EEF6-44DC-763D-B95E-DD5DFA0E2DDD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1" y="4911867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F870DBBC-8FBA-608E-10E2-C78136934380}"/>
                </a:ext>
              </a:extLst>
            </p:cNvPr>
            <p:cNvCxnSpPr>
              <a:cxnSpLocks/>
            </p:cNvCxnSpPr>
            <p:nvPr/>
          </p:nvCxnSpPr>
          <p:spPr>
            <a:xfrm>
              <a:off x="1079094" y="4503758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76EFCF0-8711-16BB-D68A-D9E5E2B6A8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72179" y="4874232"/>
            <a:ext cx="1629328" cy="174195"/>
          </a:xfrm>
          <a:prstGeom prst="bentConnector3">
            <a:avLst>
              <a:gd name="adj1" fmla="val 100344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A3DD1C9-1F7D-E14A-C238-1A166E34F13D}"/>
              </a:ext>
            </a:extLst>
          </p:cNvPr>
          <p:cNvGrpSpPr/>
          <p:nvPr/>
        </p:nvGrpSpPr>
        <p:grpSpPr>
          <a:xfrm>
            <a:off x="7399745" y="4394157"/>
            <a:ext cx="1791135" cy="1054114"/>
            <a:chOff x="7399745" y="4394157"/>
            <a:chExt cx="1791135" cy="1054114"/>
          </a:xfrm>
        </p:grpSpPr>
        <p:grpSp>
          <p:nvGrpSpPr>
            <p:cNvPr id="95" name="object 18">
              <a:extLst>
                <a:ext uri="{FF2B5EF4-FFF2-40B4-BE49-F238E27FC236}">
                  <a16:creationId xmlns:a16="http://schemas.microsoft.com/office/drawing/2014/main" id="{FF828B32-28BC-FA2D-6C3B-2198F0C549A7}"/>
                </a:ext>
              </a:extLst>
            </p:cNvPr>
            <p:cNvGrpSpPr/>
            <p:nvPr/>
          </p:nvGrpSpPr>
          <p:grpSpPr>
            <a:xfrm>
              <a:off x="7573941" y="4394157"/>
              <a:ext cx="1616939" cy="210201"/>
              <a:chOff x="4427730" y="1086611"/>
              <a:chExt cx="1250882" cy="227952"/>
            </a:xfrm>
          </p:grpSpPr>
          <p:sp>
            <p:nvSpPr>
              <p:cNvPr id="96" name="object 20">
                <a:extLst>
                  <a:ext uri="{FF2B5EF4-FFF2-40B4-BE49-F238E27FC236}">
                    <a16:creationId xmlns:a16="http://schemas.microsoft.com/office/drawing/2014/main" id="{C1C0366E-A3B8-1B94-820B-1AF6F9248CBB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Int. Administration</a:t>
                </a:r>
              </a:p>
            </p:txBody>
          </p:sp>
          <p:sp>
            <p:nvSpPr>
              <p:cNvPr id="97" name="object 21">
                <a:extLst>
                  <a:ext uri="{FF2B5EF4-FFF2-40B4-BE49-F238E27FC236}">
                    <a16:creationId xmlns:a16="http://schemas.microsoft.com/office/drawing/2014/main" id="{212C2A06-9F28-6358-04A5-A9A88D1D3090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sp>
          <p:nvSpPr>
            <p:cNvPr id="98" name="object 20">
              <a:extLst>
                <a:ext uri="{FF2B5EF4-FFF2-40B4-BE49-F238E27FC236}">
                  <a16:creationId xmlns:a16="http://schemas.microsoft.com/office/drawing/2014/main" id="{5029AA36-38BF-A972-CBF0-2B6643508C60}"/>
                </a:ext>
              </a:extLst>
            </p:cNvPr>
            <p:cNvSpPr/>
            <p:nvPr/>
          </p:nvSpPr>
          <p:spPr>
            <a:xfrm>
              <a:off x="7573941" y="4812913"/>
              <a:ext cx="1616939" cy="21020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Int. Finance</a:t>
              </a:r>
            </a:p>
          </p:txBody>
        </p:sp>
        <p:sp>
          <p:nvSpPr>
            <p:cNvPr id="99" name="object 20">
              <a:extLst>
                <a:ext uri="{FF2B5EF4-FFF2-40B4-BE49-F238E27FC236}">
                  <a16:creationId xmlns:a16="http://schemas.microsoft.com/office/drawing/2014/main" id="{2E6A6BB0-B407-3CAD-B2A9-1C17A701A585}"/>
                </a:ext>
              </a:extLst>
            </p:cNvPr>
            <p:cNvSpPr/>
            <p:nvPr/>
          </p:nvSpPr>
          <p:spPr>
            <a:xfrm>
              <a:off x="7561744" y="5238070"/>
              <a:ext cx="1616939" cy="21020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Int. Supply chain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4BA7E0D6-333A-1050-724E-E8671BE57129}"/>
                </a:ext>
              </a:extLst>
            </p:cNvPr>
            <p:cNvCxnSpPr>
              <a:cxnSpLocks/>
            </p:cNvCxnSpPr>
            <p:nvPr/>
          </p:nvCxnSpPr>
          <p:spPr>
            <a:xfrm>
              <a:off x="7399745" y="5343170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75E780D-8E32-CC25-E72A-0F40F58237F5}"/>
                </a:ext>
              </a:extLst>
            </p:cNvPr>
            <p:cNvCxnSpPr>
              <a:cxnSpLocks/>
            </p:cNvCxnSpPr>
            <p:nvPr/>
          </p:nvCxnSpPr>
          <p:spPr>
            <a:xfrm>
              <a:off x="7417345" y="4914313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9E0793AE-5F1F-84F4-56DB-C36576BDC1A1}"/>
                </a:ext>
              </a:extLst>
            </p:cNvPr>
            <p:cNvCxnSpPr>
              <a:cxnSpLocks/>
            </p:cNvCxnSpPr>
            <p:nvPr/>
          </p:nvCxnSpPr>
          <p:spPr>
            <a:xfrm>
              <a:off x="7399745" y="4503758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FC6D8B82-A2BC-152C-EC9F-10AC66867A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97389" y="5059939"/>
            <a:ext cx="2080733" cy="169415"/>
          </a:xfrm>
          <a:prstGeom prst="bentConnector3">
            <a:avLst>
              <a:gd name="adj1" fmla="val 100086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8C2BEB9-CFD7-F584-8B25-998EFF6E6A47}"/>
              </a:ext>
            </a:extLst>
          </p:cNvPr>
          <p:cNvGrpSpPr/>
          <p:nvPr/>
        </p:nvGrpSpPr>
        <p:grpSpPr>
          <a:xfrm>
            <a:off x="10147754" y="4389489"/>
            <a:ext cx="1794863" cy="1905689"/>
            <a:chOff x="10147753" y="4389488"/>
            <a:chExt cx="1794863" cy="1905689"/>
          </a:xfrm>
        </p:grpSpPr>
        <p:grpSp>
          <p:nvGrpSpPr>
            <p:cNvPr id="103" name="object 18">
              <a:extLst>
                <a:ext uri="{FF2B5EF4-FFF2-40B4-BE49-F238E27FC236}">
                  <a16:creationId xmlns:a16="http://schemas.microsoft.com/office/drawing/2014/main" id="{ABE0088C-1FF2-129A-8A01-DD1A7A7A4CBE}"/>
                </a:ext>
              </a:extLst>
            </p:cNvPr>
            <p:cNvGrpSpPr/>
            <p:nvPr/>
          </p:nvGrpSpPr>
          <p:grpSpPr>
            <a:xfrm>
              <a:off x="10313481" y="4389488"/>
              <a:ext cx="1616939" cy="210201"/>
              <a:chOff x="4427730" y="1086611"/>
              <a:chExt cx="1250882" cy="227952"/>
            </a:xfrm>
          </p:grpSpPr>
          <p:sp>
            <p:nvSpPr>
              <p:cNvPr id="104" name="object 20">
                <a:extLst>
                  <a:ext uri="{FF2B5EF4-FFF2-40B4-BE49-F238E27FC236}">
                    <a16:creationId xmlns:a16="http://schemas.microsoft.com/office/drawing/2014/main" id="{FDA62A06-1117-1DE7-B1EB-951ACAE23272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Local Administration</a:t>
                </a:r>
              </a:p>
            </p:txBody>
          </p:sp>
          <p:sp>
            <p:nvSpPr>
              <p:cNvPr id="105" name="object 21">
                <a:extLst>
                  <a:ext uri="{FF2B5EF4-FFF2-40B4-BE49-F238E27FC236}">
                    <a16:creationId xmlns:a16="http://schemas.microsoft.com/office/drawing/2014/main" id="{124F8BA6-40A7-15B4-1B1C-3322EDA431B9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106" name="object 18">
              <a:extLst>
                <a:ext uri="{FF2B5EF4-FFF2-40B4-BE49-F238E27FC236}">
                  <a16:creationId xmlns:a16="http://schemas.microsoft.com/office/drawing/2014/main" id="{5CAB147A-4587-DBEE-0D68-E7DAA2ECED3C}"/>
                </a:ext>
              </a:extLst>
            </p:cNvPr>
            <p:cNvGrpSpPr/>
            <p:nvPr/>
          </p:nvGrpSpPr>
          <p:grpSpPr>
            <a:xfrm>
              <a:off x="10325677" y="5240398"/>
              <a:ext cx="1616939" cy="210201"/>
              <a:chOff x="4427730" y="1086611"/>
              <a:chExt cx="1250882" cy="227952"/>
            </a:xfrm>
          </p:grpSpPr>
          <p:sp>
            <p:nvSpPr>
              <p:cNvPr id="107" name="object 20">
                <a:extLst>
                  <a:ext uri="{FF2B5EF4-FFF2-40B4-BE49-F238E27FC236}">
                    <a16:creationId xmlns:a16="http://schemas.microsoft.com/office/drawing/2014/main" id="{8C8BB0B7-4E50-1B38-7E58-2F28FCB33794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General  Operations</a:t>
                </a:r>
              </a:p>
            </p:txBody>
          </p:sp>
          <p:sp>
            <p:nvSpPr>
              <p:cNvPr id="108" name="object 21">
                <a:extLst>
                  <a:ext uri="{FF2B5EF4-FFF2-40B4-BE49-F238E27FC236}">
                    <a16:creationId xmlns:a16="http://schemas.microsoft.com/office/drawing/2014/main" id="{7394B0A4-42C9-7DA6-E449-DB1F20B75D17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109" name="object 18">
              <a:extLst>
                <a:ext uri="{FF2B5EF4-FFF2-40B4-BE49-F238E27FC236}">
                  <a16:creationId xmlns:a16="http://schemas.microsoft.com/office/drawing/2014/main" id="{34BA03A5-5FFE-6719-C541-12CC16252A7F}"/>
                </a:ext>
              </a:extLst>
            </p:cNvPr>
            <p:cNvGrpSpPr/>
            <p:nvPr/>
          </p:nvGrpSpPr>
          <p:grpSpPr>
            <a:xfrm>
              <a:off x="10325677" y="5671669"/>
              <a:ext cx="1616939" cy="210201"/>
              <a:chOff x="4427730" y="1086611"/>
              <a:chExt cx="1250882" cy="227952"/>
            </a:xfrm>
          </p:grpSpPr>
          <p:sp>
            <p:nvSpPr>
              <p:cNvPr id="110" name="object 20">
                <a:extLst>
                  <a:ext uri="{FF2B5EF4-FFF2-40B4-BE49-F238E27FC236}">
                    <a16:creationId xmlns:a16="http://schemas.microsoft.com/office/drawing/2014/main" id="{F4961894-ED19-0F68-DB66-C2AEBFCEB4B4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Local Supply Chain</a:t>
                </a:r>
              </a:p>
            </p:txBody>
          </p:sp>
          <p:sp>
            <p:nvSpPr>
              <p:cNvPr id="111" name="object 21">
                <a:extLst>
                  <a:ext uri="{FF2B5EF4-FFF2-40B4-BE49-F238E27FC236}">
                    <a16:creationId xmlns:a16="http://schemas.microsoft.com/office/drawing/2014/main" id="{C5E161F4-3B20-A567-10D9-7B997A810746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112" name="object 18">
              <a:extLst>
                <a:ext uri="{FF2B5EF4-FFF2-40B4-BE49-F238E27FC236}">
                  <a16:creationId xmlns:a16="http://schemas.microsoft.com/office/drawing/2014/main" id="{3D97748F-EF95-A268-469F-452A69206085}"/>
                </a:ext>
              </a:extLst>
            </p:cNvPr>
            <p:cNvGrpSpPr/>
            <p:nvPr/>
          </p:nvGrpSpPr>
          <p:grpSpPr>
            <a:xfrm>
              <a:off x="10313480" y="6084976"/>
              <a:ext cx="1616939" cy="210201"/>
              <a:chOff x="4427730" y="1086611"/>
              <a:chExt cx="1250882" cy="227952"/>
            </a:xfrm>
          </p:grpSpPr>
          <p:sp>
            <p:nvSpPr>
              <p:cNvPr id="113" name="object 20">
                <a:extLst>
                  <a:ext uri="{FF2B5EF4-FFF2-40B4-BE49-F238E27FC236}">
                    <a16:creationId xmlns:a16="http://schemas.microsoft.com/office/drawing/2014/main" id="{2C419141-C67D-D4EA-E4D5-DAE464C966D0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QHSE</a:t>
                </a:r>
              </a:p>
            </p:txBody>
          </p:sp>
          <p:sp>
            <p:nvSpPr>
              <p:cNvPr id="114" name="object 21">
                <a:extLst>
                  <a:ext uri="{FF2B5EF4-FFF2-40B4-BE49-F238E27FC236}">
                    <a16:creationId xmlns:a16="http://schemas.microsoft.com/office/drawing/2014/main" id="{02DD1E84-3255-F8A4-7636-1F140ABE9C16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115" name="object 18">
              <a:extLst>
                <a:ext uri="{FF2B5EF4-FFF2-40B4-BE49-F238E27FC236}">
                  <a16:creationId xmlns:a16="http://schemas.microsoft.com/office/drawing/2014/main" id="{AC61159A-E539-1DD7-61CB-5019A1C1B08D}"/>
                </a:ext>
              </a:extLst>
            </p:cNvPr>
            <p:cNvGrpSpPr/>
            <p:nvPr/>
          </p:nvGrpSpPr>
          <p:grpSpPr>
            <a:xfrm>
              <a:off x="10325677" y="4806767"/>
              <a:ext cx="1616939" cy="210201"/>
              <a:chOff x="4427730" y="1086611"/>
              <a:chExt cx="1250882" cy="227952"/>
            </a:xfrm>
          </p:grpSpPr>
          <p:sp>
            <p:nvSpPr>
              <p:cNvPr id="116" name="object 20">
                <a:extLst>
                  <a:ext uri="{FF2B5EF4-FFF2-40B4-BE49-F238E27FC236}">
                    <a16:creationId xmlns:a16="http://schemas.microsoft.com/office/drawing/2014/main" id="{919F21FD-4C4E-EBB5-BE9C-29BC978D8136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Local Finance</a:t>
                </a:r>
              </a:p>
            </p:txBody>
          </p:sp>
          <p:sp>
            <p:nvSpPr>
              <p:cNvPr id="117" name="object 21">
                <a:extLst>
                  <a:ext uri="{FF2B5EF4-FFF2-40B4-BE49-F238E27FC236}">
                    <a16:creationId xmlns:a16="http://schemas.microsoft.com/office/drawing/2014/main" id="{40BC1C1D-5525-FEC6-9332-201ED83342DF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0348C45C-21DF-FB4B-9452-21C405A85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153047" y="5775993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90BE9D37-013D-0682-7E19-FDC2611F6F1F}"/>
                </a:ext>
              </a:extLst>
            </p:cNvPr>
            <p:cNvCxnSpPr>
              <a:cxnSpLocks/>
            </p:cNvCxnSpPr>
            <p:nvPr/>
          </p:nvCxnSpPr>
          <p:spPr>
            <a:xfrm>
              <a:off x="10153047" y="5359064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3006748D-15AC-6F74-8FF5-6261A9922EE1}"/>
                </a:ext>
              </a:extLst>
            </p:cNvPr>
            <p:cNvCxnSpPr>
              <a:cxnSpLocks/>
            </p:cNvCxnSpPr>
            <p:nvPr/>
          </p:nvCxnSpPr>
          <p:spPr>
            <a:xfrm>
              <a:off x="10153047" y="4921037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432FD79-8A10-3BEC-71ED-CDADEE856FF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753" y="4494588"/>
              <a:ext cx="180001" cy="0"/>
            </a:xfrm>
            <a:prstGeom prst="straightConnector1">
              <a:avLst/>
            </a:prstGeom>
            <a:ln w="19050">
              <a:solidFill>
                <a:srgbClr val="697D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509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52">
            <a:extLst>
              <a:ext uri="{FF2B5EF4-FFF2-40B4-BE49-F238E27FC236}">
                <a16:creationId xmlns:a16="http://schemas.microsoft.com/office/drawing/2014/main" id="{36A54876-F9E1-2065-FE36-DE2F5F8C86CC}"/>
              </a:ext>
            </a:extLst>
          </p:cNvPr>
          <p:cNvSpPr/>
          <p:nvPr/>
        </p:nvSpPr>
        <p:spPr>
          <a:xfrm>
            <a:off x="5543189" y="3232689"/>
            <a:ext cx="5111558" cy="1500264"/>
          </a:xfrm>
          <a:prstGeom prst="rect">
            <a:avLst/>
          </a:prstGeom>
          <a:solidFill>
            <a:schemeClr val="bg1">
              <a:lumMod val="75000"/>
              <a:alpha val="41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DB8AF53C-12C7-6BA5-B60A-76ED99D27018}"/>
              </a:ext>
            </a:extLst>
          </p:cNvPr>
          <p:cNvSpPr/>
          <p:nvPr/>
        </p:nvSpPr>
        <p:spPr>
          <a:xfrm>
            <a:off x="1642046" y="3232689"/>
            <a:ext cx="3716945" cy="1500264"/>
          </a:xfrm>
          <a:prstGeom prst="rect">
            <a:avLst/>
          </a:prstGeom>
          <a:solidFill>
            <a:schemeClr val="bg1">
              <a:lumMod val="75000"/>
              <a:alpha val="41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91268CC-1436-CB15-A937-DA6BD2329F80}"/>
              </a:ext>
            </a:extLst>
          </p:cNvPr>
          <p:cNvSpPr/>
          <p:nvPr/>
        </p:nvSpPr>
        <p:spPr>
          <a:xfrm>
            <a:off x="265449" y="4099506"/>
            <a:ext cx="10389298" cy="5213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Project 2/Rotation 2: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3E7772D-9D0F-5AF0-3180-5D9780BA860B}"/>
              </a:ext>
            </a:extLst>
          </p:cNvPr>
          <p:cNvSpPr/>
          <p:nvPr/>
        </p:nvSpPr>
        <p:spPr>
          <a:xfrm>
            <a:off x="265449" y="3381287"/>
            <a:ext cx="10389298" cy="5372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Project 1/Rotation 1</a:t>
            </a:r>
            <a:r>
              <a:rPr lang="en-US" sz="1200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2.0 	 Operational Structure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grpSp>
        <p:nvGrpSpPr>
          <p:cNvPr id="25" name="object 18">
            <a:extLst>
              <a:ext uri="{FF2B5EF4-FFF2-40B4-BE49-F238E27FC236}">
                <a16:creationId xmlns:a16="http://schemas.microsoft.com/office/drawing/2014/main" id="{ACCDCAC8-8558-5A91-8723-3195B50252FE}"/>
              </a:ext>
            </a:extLst>
          </p:cNvPr>
          <p:cNvGrpSpPr/>
          <p:nvPr/>
        </p:nvGrpSpPr>
        <p:grpSpPr>
          <a:xfrm>
            <a:off x="5234723" y="1500538"/>
            <a:ext cx="1976134" cy="505939"/>
            <a:chOff x="4411803" y="1086611"/>
            <a:chExt cx="1529627" cy="477698"/>
          </a:xfrm>
        </p:grpSpPr>
        <p:pic>
          <p:nvPicPr>
            <p:cNvPr id="26" name="object 19">
              <a:extLst>
                <a:ext uri="{FF2B5EF4-FFF2-40B4-BE49-F238E27FC236}">
                  <a16:creationId xmlns:a16="http://schemas.microsoft.com/office/drawing/2014/main" id="{C8DECB43-A755-B11A-FD82-935EBCADAF3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1D22C305-CEBD-01A7-2197-69DDD012AC76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endParaRPr lang="pt-BR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CEO&amp;CLIENT</a:t>
              </a: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08B119F8-598F-C5C1-54B0-BCD45521D5BD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4724719" cy="3440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2.2	Congo Technical Operations’ Structure 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94D1352-AC92-B484-AC14-0AA92F7A5116}"/>
              </a:ext>
            </a:extLst>
          </p:cNvPr>
          <p:cNvCxnSpPr>
            <a:cxnSpLocks/>
          </p:cNvCxnSpPr>
          <p:nvPr/>
        </p:nvCxnSpPr>
        <p:spPr>
          <a:xfrm>
            <a:off x="6222791" y="2249628"/>
            <a:ext cx="2430163" cy="124248"/>
          </a:xfrm>
          <a:prstGeom prst="bentConnector3">
            <a:avLst>
              <a:gd name="adj1" fmla="val 100169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6427F35D-63DC-F98F-4403-000CB4E8810A}"/>
              </a:ext>
            </a:extLst>
          </p:cNvPr>
          <p:cNvGrpSpPr/>
          <p:nvPr/>
        </p:nvGrpSpPr>
        <p:grpSpPr>
          <a:xfrm>
            <a:off x="7870954" y="2360302"/>
            <a:ext cx="1715254" cy="672808"/>
            <a:chOff x="4411803" y="1086611"/>
            <a:chExt cx="1529627" cy="477698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41656A63-07D3-8C53-192B-CFA152B9BC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6C5AAE45-3C86-1CCD-D0AE-1F8ED199167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Technical Operations</a:t>
              </a:r>
            </a:p>
            <a:p>
              <a:pPr algn="ctr"/>
              <a:r>
                <a:rPr lang="en-US" sz="1200" b="1" dirty="0"/>
                <a:t>Ron</a:t>
              </a:r>
              <a:endParaRPr sz="1200" b="1" dirty="0"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CC702AFE-123E-9E4B-C112-BCDD701721A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1" name="object 18">
            <a:extLst>
              <a:ext uri="{FF2B5EF4-FFF2-40B4-BE49-F238E27FC236}">
                <a16:creationId xmlns:a16="http://schemas.microsoft.com/office/drawing/2014/main" id="{38CD6AD2-DBD2-31B5-E493-7E46B34FCA3A}"/>
              </a:ext>
            </a:extLst>
          </p:cNvPr>
          <p:cNvGrpSpPr/>
          <p:nvPr/>
        </p:nvGrpSpPr>
        <p:grpSpPr>
          <a:xfrm>
            <a:off x="2636667" y="2360075"/>
            <a:ext cx="1715254" cy="672808"/>
            <a:chOff x="4411803" y="1086611"/>
            <a:chExt cx="1529627" cy="477698"/>
          </a:xfrm>
        </p:grpSpPr>
        <p:pic>
          <p:nvPicPr>
            <p:cNvPr id="22" name="object 19">
              <a:extLst>
                <a:ext uri="{FF2B5EF4-FFF2-40B4-BE49-F238E27FC236}">
                  <a16:creationId xmlns:a16="http://schemas.microsoft.com/office/drawing/2014/main" id="{C188CDA5-B807-9719-DB3D-2D9451CDE23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894D97EA-ED79-B290-EF9E-A729DF030183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Exploration (Geoscience)</a:t>
              </a:r>
            </a:p>
            <a:p>
              <a:pPr algn="ctr"/>
              <a:r>
                <a:rPr lang="en-US" sz="1200" b="1" dirty="0" err="1"/>
                <a:t>Kiram</a:t>
              </a:r>
              <a:endParaRPr sz="1200" b="1" dirty="0"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E793E293-C1D3-F252-75E2-02372C96D69A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99972B3-FD96-DA70-275B-6967A3633B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93512" y="2250673"/>
            <a:ext cx="2829278" cy="157577"/>
          </a:xfrm>
          <a:prstGeom prst="bentConnector3">
            <a:avLst>
              <a:gd name="adj1" fmla="val 99825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E9AAFE7-5E2D-367D-2D26-9DAF5E90D001}"/>
              </a:ext>
            </a:extLst>
          </p:cNvPr>
          <p:cNvCxnSpPr>
            <a:cxnSpLocks/>
          </p:cNvCxnSpPr>
          <p:nvPr/>
        </p:nvCxnSpPr>
        <p:spPr>
          <a:xfrm>
            <a:off x="6128060" y="1835578"/>
            <a:ext cx="0" cy="423081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object 18">
            <a:extLst>
              <a:ext uri="{FF2B5EF4-FFF2-40B4-BE49-F238E27FC236}">
                <a16:creationId xmlns:a16="http://schemas.microsoft.com/office/drawing/2014/main" id="{E1ACDC8B-9587-CCD8-12ED-87771361E0A6}"/>
              </a:ext>
            </a:extLst>
          </p:cNvPr>
          <p:cNvGrpSpPr/>
          <p:nvPr/>
        </p:nvGrpSpPr>
        <p:grpSpPr>
          <a:xfrm>
            <a:off x="8263761" y="3376432"/>
            <a:ext cx="965239" cy="519357"/>
            <a:chOff x="4427730" y="1086611"/>
            <a:chExt cx="1250882" cy="227952"/>
          </a:xfrm>
        </p:grpSpPr>
        <p:sp>
          <p:nvSpPr>
            <p:cNvPr id="36" name="object 20">
              <a:extLst>
                <a:ext uri="{FF2B5EF4-FFF2-40B4-BE49-F238E27FC236}">
                  <a16:creationId xmlns:a16="http://schemas.microsoft.com/office/drawing/2014/main" id="{B8F0AAD9-A011-C1DE-3BAC-6B7639A56A1D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Drilling Supervisor 1</a:t>
              </a:r>
              <a:endParaRPr lang="en-US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100" dirty="0"/>
                <a:t>XX</a:t>
              </a:r>
              <a:endParaRPr lang="en-US" sz="1200" dirty="0"/>
            </a:p>
          </p:txBody>
        </p:sp>
        <p:sp>
          <p:nvSpPr>
            <p:cNvPr id="42" name="object 21">
              <a:extLst>
                <a:ext uri="{FF2B5EF4-FFF2-40B4-BE49-F238E27FC236}">
                  <a16:creationId xmlns:a16="http://schemas.microsoft.com/office/drawing/2014/main" id="{4C7E98F8-81AC-E3F2-C67F-447CDCB89B38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44" name="object 18">
            <a:extLst>
              <a:ext uri="{FF2B5EF4-FFF2-40B4-BE49-F238E27FC236}">
                <a16:creationId xmlns:a16="http://schemas.microsoft.com/office/drawing/2014/main" id="{B6C7211D-B7FC-99ED-3212-C393BFB83795}"/>
              </a:ext>
            </a:extLst>
          </p:cNvPr>
          <p:cNvGrpSpPr/>
          <p:nvPr/>
        </p:nvGrpSpPr>
        <p:grpSpPr>
          <a:xfrm>
            <a:off x="9566498" y="3394219"/>
            <a:ext cx="962105" cy="519355"/>
            <a:chOff x="4427730" y="1086611"/>
            <a:chExt cx="1250882" cy="227952"/>
          </a:xfrm>
        </p:grpSpPr>
        <p:sp>
          <p:nvSpPr>
            <p:cNvPr id="45" name="object 20">
              <a:extLst>
                <a:ext uri="{FF2B5EF4-FFF2-40B4-BE49-F238E27FC236}">
                  <a16:creationId xmlns:a16="http://schemas.microsoft.com/office/drawing/2014/main" id="{CC4264D8-FA85-0D9A-0B16-FCABFFA09F1E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 err="1">
                  <a:solidFill>
                    <a:schemeClr val="bg1"/>
                  </a:solidFill>
                </a:rPr>
                <a:t>Fracing</a:t>
              </a:r>
              <a:r>
                <a:rPr lang="en-US" sz="1100" b="1" dirty="0">
                  <a:solidFill>
                    <a:schemeClr val="bg1"/>
                  </a:solidFill>
                </a:rPr>
                <a:t> Manager 1</a:t>
              </a:r>
            </a:p>
            <a:p>
              <a:pPr algn="ctr"/>
              <a:r>
                <a:rPr lang="en-US" sz="1100" dirty="0"/>
                <a:t>Javier/Martial</a:t>
              </a:r>
              <a:endParaRPr lang="en-US" sz="1200" dirty="0"/>
            </a:p>
          </p:txBody>
        </p:sp>
        <p:sp>
          <p:nvSpPr>
            <p:cNvPr id="47" name="object 21">
              <a:extLst>
                <a:ext uri="{FF2B5EF4-FFF2-40B4-BE49-F238E27FC236}">
                  <a16:creationId xmlns:a16="http://schemas.microsoft.com/office/drawing/2014/main" id="{D19F4B3C-A905-6C35-6875-8CBD58C4257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48" name="object 18">
            <a:extLst>
              <a:ext uri="{FF2B5EF4-FFF2-40B4-BE49-F238E27FC236}">
                <a16:creationId xmlns:a16="http://schemas.microsoft.com/office/drawing/2014/main" id="{E29EBD3E-7090-CE26-AA21-31EB3B0F92B4}"/>
              </a:ext>
            </a:extLst>
          </p:cNvPr>
          <p:cNvGrpSpPr/>
          <p:nvPr/>
        </p:nvGrpSpPr>
        <p:grpSpPr>
          <a:xfrm>
            <a:off x="5647769" y="3388000"/>
            <a:ext cx="968383" cy="519357"/>
            <a:chOff x="4427730" y="1086611"/>
            <a:chExt cx="1250882" cy="227952"/>
          </a:xfrm>
        </p:grpSpPr>
        <p:sp>
          <p:nvSpPr>
            <p:cNvPr id="50" name="object 20">
              <a:extLst>
                <a:ext uri="{FF2B5EF4-FFF2-40B4-BE49-F238E27FC236}">
                  <a16:creationId xmlns:a16="http://schemas.microsoft.com/office/drawing/2014/main" id="{CE6609BF-48F2-CA43-A911-DCA5DCAA6E2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Well Services Manager 1</a:t>
              </a:r>
            </a:p>
            <a:p>
              <a:pPr algn="ctr"/>
              <a:r>
                <a:rPr lang="en-US" sz="1100" dirty="0"/>
                <a:t>Saber</a:t>
              </a:r>
              <a:endParaRPr lang="en-US" sz="1200" dirty="0"/>
            </a:p>
          </p:txBody>
        </p:sp>
        <p:sp>
          <p:nvSpPr>
            <p:cNvPr id="51" name="object 21">
              <a:extLst>
                <a:ext uri="{FF2B5EF4-FFF2-40B4-BE49-F238E27FC236}">
                  <a16:creationId xmlns:a16="http://schemas.microsoft.com/office/drawing/2014/main" id="{6C8C2315-28FA-80C7-8172-8C7239500F66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52" name="object 18">
            <a:extLst>
              <a:ext uri="{FF2B5EF4-FFF2-40B4-BE49-F238E27FC236}">
                <a16:creationId xmlns:a16="http://schemas.microsoft.com/office/drawing/2014/main" id="{CD773AB0-F074-AF28-2B14-EDDC7A781DFF}"/>
              </a:ext>
            </a:extLst>
          </p:cNvPr>
          <p:cNvGrpSpPr/>
          <p:nvPr/>
        </p:nvGrpSpPr>
        <p:grpSpPr>
          <a:xfrm>
            <a:off x="6958381" y="3383186"/>
            <a:ext cx="958982" cy="519351"/>
            <a:chOff x="4427730" y="1086611"/>
            <a:chExt cx="1250882" cy="227952"/>
          </a:xfrm>
        </p:grpSpPr>
        <p:sp>
          <p:nvSpPr>
            <p:cNvPr id="53" name="object 20">
              <a:extLst>
                <a:ext uri="{FF2B5EF4-FFF2-40B4-BE49-F238E27FC236}">
                  <a16:creationId xmlns:a16="http://schemas.microsoft.com/office/drawing/2014/main" id="{9985C3F7-4604-1D9A-26AE-CB6E82BF958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Production Manager 1</a:t>
              </a:r>
            </a:p>
            <a:p>
              <a:pPr algn="ctr"/>
              <a:r>
                <a:rPr lang="en-US" sz="1100" dirty="0"/>
                <a:t>Salah</a:t>
              </a:r>
              <a:endParaRPr lang="en-US" sz="1200" dirty="0"/>
            </a:p>
          </p:txBody>
        </p:sp>
        <p:sp>
          <p:nvSpPr>
            <p:cNvPr id="54" name="object 21">
              <a:extLst>
                <a:ext uri="{FF2B5EF4-FFF2-40B4-BE49-F238E27FC236}">
                  <a16:creationId xmlns:a16="http://schemas.microsoft.com/office/drawing/2014/main" id="{1D849F0B-8F45-9EF2-87F3-FED20241BE20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59" name="object 18">
            <a:extLst>
              <a:ext uri="{FF2B5EF4-FFF2-40B4-BE49-F238E27FC236}">
                <a16:creationId xmlns:a16="http://schemas.microsoft.com/office/drawing/2014/main" id="{22D8BF1E-F9DA-45FB-3982-18F3F9D28FD9}"/>
              </a:ext>
            </a:extLst>
          </p:cNvPr>
          <p:cNvGrpSpPr/>
          <p:nvPr/>
        </p:nvGrpSpPr>
        <p:grpSpPr>
          <a:xfrm>
            <a:off x="5647769" y="4094834"/>
            <a:ext cx="968383" cy="519357"/>
            <a:chOff x="4427730" y="1086611"/>
            <a:chExt cx="1250882" cy="227952"/>
          </a:xfrm>
        </p:grpSpPr>
        <p:sp>
          <p:nvSpPr>
            <p:cNvPr id="60" name="object 20">
              <a:extLst>
                <a:ext uri="{FF2B5EF4-FFF2-40B4-BE49-F238E27FC236}">
                  <a16:creationId xmlns:a16="http://schemas.microsoft.com/office/drawing/2014/main" id="{CDC6D8A3-7831-0996-5549-24C7214C0122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Well Services Manager 2</a:t>
              </a:r>
            </a:p>
            <a:p>
              <a:pPr algn="ctr"/>
              <a:r>
                <a:rPr lang="en-US" sz="1100" dirty="0"/>
                <a:t>Nizar</a:t>
              </a:r>
              <a:endParaRPr lang="en-US" sz="1200" dirty="0"/>
            </a:p>
          </p:txBody>
        </p:sp>
        <p:sp>
          <p:nvSpPr>
            <p:cNvPr id="61" name="object 21">
              <a:extLst>
                <a:ext uri="{FF2B5EF4-FFF2-40B4-BE49-F238E27FC236}">
                  <a16:creationId xmlns:a16="http://schemas.microsoft.com/office/drawing/2014/main" id="{3585C243-0483-1EB4-E680-204C415C55BE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68" name="object 18">
            <a:extLst>
              <a:ext uri="{FF2B5EF4-FFF2-40B4-BE49-F238E27FC236}">
                <a16:creationId xmlns:a16="http://schemas.microsoft.com/office/drawing/2014/main" id="{FB489205-9097-9A2B-37A1-B448C9CC5C28}"/>
              </a:ext>
            </a:extLst>
          </p:cNvPr>
          <p:cNvGrpSpPr/>
          <p:nvPr/>
        </p:nvGrpSpPr>
        <p:grpSpPr>
          <a:xfrm>
            <a:off x="6965181" y="4094834"/>
            <a:ext cx="958982" cy="519351"/>
            <a:chOff x="4427730" y="1086611"/>
            <a:chExt cx="1250882" cy="227952"/>
          </a:xfrm>
        </p:grpSpPr>
        <p:sp>
          <p:nvSpPr>
            <p:cNvPr id="119" name="object 20">
              <a:extLst>
                <a:ext uri="{FF2B5EF4-FFF2-40B4-BE49-F238E27FC236}">
                  <a16:creationId xmlns:a16="http://schemas.microsoft.com/office/drawing/2014/main" id="{4BCF9FCC-E9AE-B4A0-1A81-181EBC7273C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Production Manager 2</a:t>
              </a:r>
            </a:p>
            <a:p>
              <a:pPr algn="ctr"/>
              <a:r>
                <a:rPr lang="en-US" sz="1100" dirty="0" err="1"/>
                <a:t>Faycal</a:t>
              </a:r>
              <a:endParaRPr lang="en-US" sz="1200" dirty="0"/>
            </a:p>
          </p:txBody>
        </p:sp>
        <p:sp>
          <p:nvSpPr>
            <p:cNvPr id="120" name="object 21">
              <a:extLst>
                <a:ext uri="{FF2B5EF4-FFF2-40B4-BE49-F238E27FC236}">
                  <a16:creationId xmlns:a16="http://schemas.microsoft.com/office/drawing/2014/main" id="{2A53832C-17D6-BE1C-21B6-54C1E9709E16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21" name="object 18">
            <a:extLst>
              <a:ext uri="{FF2B5EF4-FFF2-40B4-BE49-F238E27FC236}">
                <a16:creationId xmlns:a16="http://schemas.microsoft.com/office/drawing/2014/main" id="{409E3F31-D64D-CA1B-8FAB-545604F74560}"/>
              </a:ext>
            </a:extLst>
          </p:cNvPr>
          <p:cNvGrpSpPr/>
          <p:nvPr/>
        </p:nvGrpSpPr>
        <p:grpSpPr>
          <a:xfrm>
            <a:off x="8263760" y="4098168"/>
            <a:ext cx="965239" cy="519357"/>
            <a:chOff x="4427730" y="1086611"/>
            <a:chExt cx="1250882" cy="227952"/>
          </a:xfrm>
        </p:grpSpPr>
        <p:sp>
          <p:nvSpPr>
            <p:cNvPr id="123" name="object 20">
              <a:extLst>
                <a:ext uri="{FF2B5EF4-FFF2-40B4-BE49-F238E27FC236}">
                  <a16:creationId xmlns:a16="http://schemas.microsoft.com/office/drawing/2014/main" id="{A16ED99C-488F-117A-0848-2EBDCC31505D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Drilling Supervisor 2</a:t>
              </a:r>
              <a:endParaRPr lang="en-US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100" dirty="0"/>
                <a:t>XX</a:t>
              </a:r>
              <a:endParaRPr lang="en-US" sz="1200" dirty="0"/>
            </a:p>
          </p:txBody>
        </p:sp>
        <p:sp>
          <p:nvSpPr>
            <p:cNvPr id="124" name="object 21">
              <a:extLst>
                <a:ext uri="{FF2B5EF4-FFF2-40B4-BE49-F238E27FC236}">
                  <a16:creationId xmlns:a16="http://schemas.microsoft.com/office/drawing/2014/main" id="{75B39385-800E-74AB-7603-B63A3742DE16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29" name="object 18">
            <a:extLst>
              <a:ext uri="{FF2B5EF4-FFF2-40B4-BE49-F238E27FC236}">
                <a16:creationId xmlns:a16="http://schemas.microsoft.com/office/drawing/2014/main" id="{F5840C09-2E4B-E6E7-F824-005AEA55BA83}"/>
              </a:ext>
            </a:extLst>
          </p:cNvPr>
          <p:cNvGrpSpPr/>
          <p:nvPr/>
        </p:nvGrpSpPr>
        <p:grpSpPr>
          <a:xfrm>
            <a:off x="9566497" y="4101053"/>
            <a:ext cx="962105" cy="519355"/>
            <a:chOff x="4427730" y="1086611"/>
            <a:chExt cx="1250882" cy="227952"/>
          </a:xfrm>
        </p:grpSpPr>
        <p:sp>
          <p:nvSpPr>
            <p:cNvPr id="130" name="object 20">
              <a:extLst>
                <a:ext uri="{FF2B5EF4-FFF2-40B4-BE49-F238E27FC236}">
                  <a16:creationId xmlns:a16="http://schemas.microsoft.com/office/drawing/2014/main" id="{79B222AF-3866-2D19-201C-C306BF0F7132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 err="1">
                  <a:solidFill>
                    <a:schemeClr val="bg1"/>
                  </a:solidFill>
                </a:rPr>
                <a:t>Fracing</a:t>
              </a:r>
              <a:r>
                <a:rPr lang="en-US" sz="1100" b="1" dirty="0">
                  <a:solidFill>
                    <a:schemeClr val="bg1"/>
                  </a:solidFill>
                </a:rPr>
                <a:t> Manager 2</a:t>
              </a:r>
            </a:p>
            <a:p>
              <a:pPr algn="ctr"/>
              <a:r>
                <a:rPr lang="en-US" sz="1100" dirty="0"/>
                <a:t>Javier/Martial</a:t>
              </a:r>
              <a:endParaRPr lang="en-US" sz="1200" dirty="0"/>
            </a:p>
          </p:txBody>
        </p:sp>
        <p:sp>
          <p:nvSpPr>
            <p:cNvPr id="134" name="object 21">
              <a:extLst>
                <a:ext uri="{FF2B5EF4-FFF2-40B4-BE49-F238E27FC236}">
                  <a16:creationId xmlns:a16="http://schemas.microsoft.com/office/drawing/2014/main" id="{D3D0C1DA-D17F-0D3E-B003-A662F2558E3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76EE284-0A98-875F-CCD3-7D94F1D16905}"/>
              </a:ext>
            </a:extLst>
          </p:cNvPr>
          <p:cNvCxnSpPr>
            <a:cxnSpLocks/>
          </p:cNvCxnSpPr>
          <p:nvPr/>
        </p:nvCxnSpPr>
        <p:spPr>
          <a:xfrm>
            <a:off x="6131959" y="3907355"/>
            <a:ext cx="0" cy="182865"/>
          </a:xfrm>
          <a:prstGeom prst="straightConnector1">
            <a:avLst/>
          </a:prstGeom>
          <a:ln w="19050">
            <a:solidFill>
              <a:srgbClr val="697D3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654B6F6-A110-D34E-9672-537C45F51B9B}"/>
              </a:ext>
            </a:extLst>
          </p:cNvPr>
          <p:cNvCxnSpPr>
            <a:cxnSpLocks/>
          </p:cNvCxnSpPr>
          <p:nvPr/>
        </p:nvCxnSpPr>
        <p:spPr>
          <a:xfrm>
            <a:off x="7422271" y="3902537"/>
            <a:ext cx="0" cy="182865"/>
          </a:xfrm>
          <a:prstGeom prst="straightConnector1">
            <a:avLst/>
          </a:prstGeom>
          <a:ln w="19050">
            <a:solidFill>
              <a:srgbClr val="697D3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D4A91D5-9F27-E0CE-83D2-5FE61C7DBD46}"/>
              </a:ext>
            </a:extLst>
          </p:cNvPr>
          <p:cNvCxnSpPr>
            <a:cxnSpLocks/>
          </p:cNvCxnSpPr>
          <p:nvPr/>
        </p:nvCxnSpPr>
        <p:spPr>
          <a:xfrm>
            <a:off x="8763083" y="3905874"/>
            <a:ext cx="0" cy="182865"/>
          </a:xfrm>
          <a:prstGeom prst="straightConnector1">
            <a:avLst/>
          </a:prstGeom>
          <a:ln w="19050">
            <a:solidFill>
              <a:srgbClr val="697D3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57BB9F0-D0FB-A562-20CD-EE1259B77762}"/>
              </a:ext>
            </a:extLst>
          </p:cNvPr>
          <p:cNvCxnSpPr>
            <a:cxnSpLocks/>
          </p:cNvCxnSpPr>
          <p:nvPr/>
        </p:nvCxnSpPr>
        <p:spPr>
          <a:xfrm>
            <a:off x="10038213" y="3923002"/>
            <a:ext cx="0" cy="182865"/>
          </a:xfrm>
          <a:prstGeom prst="straightConnector1">
            <a:avLst/>
          </a:prstGeom>
          <a:ln w="19050">
            <a:solidFill>
              <a:srgbClr val="697D3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C98A38-7DF3-7610-CCBA-EBD579E354E7}"/>
              </a:ext>
            </a:extLst>
          </p:cNvPr>
          <p:cNvSpPr/>
          <p:nvPr/>
        </p:nvSpPr>
        <p:spPr>
          <a:xfrm>
            <a:off x="5621738" y="3314716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BB3592C-5001-8B7E-6F37-FD212BB31FE6}"/>
              </a:ext>
            </a:extLst>
          </p:cNvPr>
          <p:cNvSpPr/>
          <p:nvPr/>
        </p:nvSpPr>
        <p:spPr>
          <a:xfrm>
            <a:off x="6930497" y="3309898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902FDF8-ED02-5A95-E285-E6DC6D3C6009}"/>
              </a:ext>
            </a:extLst>
          </p:cNvPr>
          <p:cNvSpPr/>
          <p:nvPr/>
        </p:nvSpPr>
        <p:spPr>
          <a:xfrm>
            <a:off x="8236769" y="3313235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176ABAF-3378-84C3-009A-15E2C2AF202F}"/>
              </a:ext>
            </a:extLst>
          </p:cNvPr>
          <p:cNvSpPr/>
          <p:nvPr/>
        </p:nvSpPr>
        <p:spPr>
          <a:xfrm>
            <a:off x="9542828" y="3316610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433060-779D-800D-918D-1E1876726101}"/>
              </a:ext>
            </a:extLst>
          </p:cNvPr>
          <p:cNvGrpSpPr/>
          <p:nvPr/>
        </p:nvGrpSpPr>
        <p:grpSpPr>
          <a:xfrm>
            <a:off x="11023987" y="3296740"/>
            <a:ext cx="1109542" cy="1345846"/>
            <a:chOff x="10850191" y="3314433"/>
            <a:chExt cx="1017110" cy="1345846"/>
          </a:xfrm>
        </p:grpSpPr>
        <p:grpSp>
          <p:nvGrpSpPr>
            <p:cNvPr id="56" name="object 18">
              <a:extLst>
                <a:ext uri="{FF2B5EF4-FFF2-40B4-BE49-F238E27FC236}">
                  <a16:creationId xmlns:a16="http://schemas.microsoft.com/office/drawing/2014/main" id="{9563A5CF-7339-F2B8-9C80-CF69226ABB32}"/>
                </a:ext>
              </a:extLst>
            </p:cNvPr>
            <p:cNvGrpSpPr/>
            <p:nvPr/>
          </p:nvGrpSpPr>
          <p:grpSpPr>
            <a:xfrm>
              <a:off x="10875257" y="3394221"/>
              <a:ext cx="958983" cy="519352"/>
              <a:chOff x="4427730" y="1086611"/>
              <a:chExt cx="1250882" cy="227952"/>
            </a:xfrm>
          </p:grpSpPr>
          <p:sp>
            <p:nvSpPr>
              <p:cNvPr id="57" name="object 20">
                <a:extLst>
                  <a:ext uri="{FF2B5EF4-FFF2-40B4-BE49-F238E27FC236}">
                    <a16:creationId xmlns:a16="http://schemas.microsoft.com/office/drawing/2014/main" id="{0D6DCDE0-2BD8-6D29-D9E2-7A6D74709FF1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050" b="1" dirty="0">
                    <a:solidFill>
                      <a:schemeClr val="bg1"/>
                    </a:solidFill>
                  </a:rPr>
                  <a:t>Maintenance &amp; QHSE Team 1</a:t>
                </a:r>
              </a:p>
              <a:p>
                <a:pPr algn="ctr"/>
                <a:r>
                  <a:rPr lang="en-US" sz="1000" dirty="0"/>
                  <a:t>X</a:t>
                </a:r>
                <a:endParaRPr lang="en-US" sz="1050" dirty="0"/>
              </a:p>
            </p:txBody>
          </p:sp>
          <p:sp>
            <p:nvSpPr>
              <p:cNvPr id="58" name="object 21">
                <a:extLst>
                  <a:ext uri="{FF2B5EF4-FFF2-40B4-BE49-F238E27FC236}">
                    <a16:creationId xmlns:a16="http://schemas.microsoft.com/office/drawing/2014/main" id="{F1F659CB-E6A9-0EA9-5E87-38D317EE9B65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grpSp>
          <p:nvGrpSpPr>
            <p:cNvPr id="139" name="object 18">
              <a:extLst>
                <a:ext uri="{FF2B5EF4-FFF2-40B4-BE49-F238E27FC236}">
                  <a16:creationId xmlns:a16="http://schemas.microsoft.com/office/drawing/2014/main" id="{482E0801-6268-7DDD-F698-B18C2C9F012D}"/>
                </a:ext>
              </a:extLst>
            </p:cNvPr>
            <p:cNvGrpSpPr/>
            <p:nvPr/>
          </p:nvGrpSpPr>
          <p:grpSpPr>
            <a:xfrm>
              <a:off x="10875257" y="4094261"/>
              <a:ext cx="958983" cy="519352"/>
              <a:chOff x="4427730" y="1086611"/>
              <a:chExt cx="1250882" cy="227952"/>
            </a:xfrm>
          </p:grpSpPr>
          <p:sp>
            <p:nvSpPr>
              <p:cNvPr id="140" name="object 20">
                <a:extLst>
                  <a:ext uri="{FF2B5EF4-FFF2-40B4-BE49-F238E27FC236}">
                    <a16:creationId xmlns:a16="http://schemas.microsoft.com/office/drawing/2014/main" id="{B392982E-FCF5-0454-C82D-5590A335EE7D}"/>
                  </a:ext>
                </a:extLst>
              </p:cNvPr>
              <p:cNvSpPr/>
              <p:nvPr/>
            </p:nvSpPr>
            <p:spPr>
              <a:xfrm>
                <a:off x="4427730" y="1086611"/>
                <a:ext cx="1250882" cy="227952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1258316" y="0"/>
                    </a:moveTo>
                    <a:lnTo>
                      <a:pt x="69087" y="0"/>
                    </a:lnTo>
                    <a:lnTo>
                      <a:pt x="42219" y="5437"/>
                    </a:lnTo>
                    <a:lnTo>
                      <a:pt x="20256" y="20256"/>
                    </a:lnTo>
                    <a:lnTo>
                      <a:pt x="5437" y="42219"/>
                    </a:lnTo>
                    <a:lnTo>
                      <a:pt x="0" y="69087"/>
                    </a:lnTo>
                    <a:lnTo>
                      <a:pt x="0" y="345439"/>
                    </a:lnTo>
                    <a:lnTo>
                      <a:pt x="5437" y="372308"/>
                    </a:lnTo>
                    <a:lnTo>
                      <a:pt x="20256" y="394271"/>
                    </a:lnTo>
                    <a:lnTo>
                      <a:pt x="42219" y="409090"/>
                    </a:lnTo>
                    <a:lnTo>
                      <a:pt x="69087" y="414527"/>
                    </a:lnTo>
                    <a:lnTo>
                      <a:pt x="1258316" y="414527"/>
                    </a:lnTo>
                    <a:lnTo>
                      <a:pt x="1285184" y="409090"/>
                    </a:lnTo>
                    <a:lnTo>
                      <a:pt x="1307147" y="394271"/>
                    </a:lnTo>
                    <a:lnTo>
                      <a:pt x="1321966" y="372308"/>
                    </a:lnTo>
                    <a:lnTo>
                      <a:pt x="1327404" y="345439"/>
                    </a:lnTo>
                    <a:lnTo>
                      <a:pt x="1327404" y="69087"/>
                    </a:lnTo>
                    <a:lnTo>
                      <a:pt x="1321966" y="42219"/>
                    </a:lnTo>
                    <a:lnTo>
                      <a:pt x="1307147" y="20256"/>
                    </a:lnTo>
                    <a:lnTo>
                      <a:pt x="1285184" y="5437"/>
                    </a:lnTo>
                    <a:lnTo>
                      <a:pt x="1258316" y="0"/>
                    </a:lnTo>
                    <a:close/>
                  </a:path>
                </a:pathLst>
              </a:custGeom>
              <a:solidFill>
                <a:srgbClr val="697D36"/>
              </a:solidFill>
            </p:spPr>
            <p:txBody>
              <a:bodyPr wrap="square" lIns="0" tIns="0" rIns="0" bIns="0" rtlCol="0"/>
              <a:lstStyle/>
              <a:p>
                <a:pPr algn="ctr"/>
                <a:r>
                  <a:rPr lang="en-US" sz="1050" b="1" dirty="0">
                    <a:solidFill>
                      <a:schemeClr val="bg1"/>
                    </a:solidFill>
                  </a:rPr>
                  <a:t>Maintenance &amp; QHSE Team 2</a:t>
                </a:r>
              </a:p>
              <a:p>
                <a:pPr algn="ctr"/>
                <a:r>
                  <a:rPr lang="en-US" sz="1000" dirty="0"/>
                  <a:t>X</a:t>
                </a:r>
                <a:endParaRPr lang="en-US" sz="1050" dirty="0"/>
              </a:p>
            </p:txBody>
          </p:sp>
          <p:sp>
            <p:nvSpPr>
              <p:cNvPr id="141" name="object 21">
                <a:extLst>
                  <a:ext uri="{FF2B5EF4-FFF2-40B4-BE49-F238E27FC236}">
                    <a16:creationId xmlns:a16="http://schemas.microsoft.com/office/drawing/2014/main" id="{CB35520E-D505-9E48-D942-06E3AD268831}"/>
                  </a:ext>
                </a:extLst>
              </p:cNvPr>
              <p:cNvSpPr/>
              <p:nvPr/>
            </p:nvSpPr>
            <p:spPr>
              <a:xfrm>
                <a:off x="4431791" y="1086612"/>
                <a:ext cx="1246821" cy="227951"/>
              </a:xfrm>
              <a:custGeom>
                <a:avLst/>
                <a:gdLst/>
                <a:ahLst/>
                <a:cxnLst/>
                <a:rect l="l" t="t" r="r" b="b"/>
                <a:pathLst>
                  <a:path w="1327785" h="414655">
                    <a:moveTo>
                      <a:pt x="0" y="69087"/>
                    </a:moveTo>
                    <a:lnTo>
                      <a:pt x="5437" y="42219"/>
                    </a:lnTo>
                    <a:lnTo>
                      <a:pt x="20256" y="20256"/>
                    </a:lnTo>
                    <a:lnTo>
                      <a:pt x="42219" y="5437"/>
                    </a:lnTo>
                    <a:lnTo>
                      <a:pt x="69087" y="0"/>
                    </a:lnTo>
                    <a:lnTo>
                      <a:pt x="1258316" y="0"/>
                    </a:lnTo>
                    <a:lnTo>
                      <a:pt x="1285184" y="5437"/>
                    </a:lnTo>
                    <a:lnTo>
                      <a:pt x="1307147" y="20256"/>
                    </a:lnTo>
                    <a:lnTo>
                      <a:pt x="1321966" y="42219"/>
                    </a:lnTo>
                    <a:lnTo>
                      <a:pt x="1327404" y="69087"/>
                    </a:lnTo>
                    <a:lnTo>
                      <a:pt x="1327404" y="345439"/>
                    </a:lnTo>
                    <a:lnTo>
                      <a:pt x="1321966" y="372308"/>
                    </a:lnTo>
                    <a:lnTo>
                      <a:pt x="1307147" y="394271"/>
                    </a:lnTo>
                    <a:lnTo>
                      <a:pt x="1285184" y="409090"/>
                    </a:lnTo>
                    <a:lnTo>
                      <a:pt x="1258316" y="414527"/>
                    </a:lnTo>
                    <a:lnTo>
                      <a:pt x="69087" y="414527"/>
                    </a:lnTo>
                    <a:lnTo>
                      <a:pt x="42219" y="409090"/>
                    </a:lnTo>
                    <a:lnTo>
                      <a:pt x="20256" y="394271"/>
                    </a:lnTo>
                    <a:lnTo>
                      <a:pt x="5437" y="372308"/>
                    </a:lnTo>
                    <a:lnTo>
                      <a:pt x="0" y="345439"/>
                    </a:lnTo>
                    <a:lnTo>
                      <a:pt x="0" y="69087"/>
                    </a:lnTo>
                    <a:close/>
                  </a:path>
                </a:pathLst>
              </a:custGeom>
              <a:ln w="12700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832"/>
              </a:p>
            </p:txBody>
          </p: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72CDBA6E-04B5-D52F-D98C-EA6A93D661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54747" y="3901311"/>
              <a:ext cx="0" cy="182865"/>
            </a:xfrm>
            <a:prstGeom prst="straightConnector1">
              <a:avLst/>
            </a:prstGeom>
            <a:ln w="19050">
              <a:solidFill>
                <a:srgbClr val="697D3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9DC04CF-E808-FB28-55A9-056BA91A0D10}"/>
                </a:ext>
              </a:extLst>
            </p:cNvPr>
            <p:cNvSpPr/>
            <p:nvPr/>
          </p:nvSpPr>
          <p:spPr>
            <a:xfrm>
              <a:off x="10850191" y="3314433"/>
              <a:ext cx="1017110" cy="1345846"/>
            </a:xfrm>
            <a:prstGeom prst="rect">
              <a:avLst/>
            </a:prstGeom>
            <a:noFill/>
            <a:ln>
              <a:solidFill>
                <a:srgbClr val="697D3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32"/>
            </a:p>
          </p:txBody>
        </p:sp>
      </p:grp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33022F4-9DF3-E48C-B06D-523DA3DDAAAB}"/>
              </a:ext>
            </a:extLst>
          </p:cNvPr>
          <p:cNvCxnSpPr>
            <a:cxnSpLocks/>
          </p:cNvCxnSpPr>
          <p:nvPr/>
        </p:nvCxnSpPr>
        <p:spPr>
          <a:xfrm>
            <a:off x="8637827" y="2944318"/>
            <a:ext cx="0" cy="28870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object 18">
            <a:extLst>
              <a:ext uri="{FF2B5EF4-FFF2-40B4-BE49-F238E27FC236}">
                <a16:creationId xmlns:a16="http://schemas.microsoft.com/office/drawing/2014/main" id="{23F40D5E-2FFC-2BE4-4CF2-FA8C4EB61D6B}"/>
              </a:ext>
            </a:extLst>
          </p:cNvPr>
          <p:cNvGrpSpPr/>
          <p:nvPr/>
        </p:nvGrpSpPr>
        <p:grpSpPr>
          <a:xfrm>
            <a:off x="1729314" y="3739371"/>
            <a:ext cx="1017110" cy="494938"/>
            <a:chOff x="4427730" y="1086611"/>
            <a:chExt cx="1250882" cy="227952"/>
          </a:xfrm>
        </p:grpSpPr>
        <p:sp>
          <p:nvSpPr>
            <p:cNvPr id="170" name="object 20">
              <a:extLst>
                <a:ext uri="{FF2B5EF4-FFF2-40B4-BE49-F238E27FC236}">
                  <a16:creationId xmlns:a16="http://schemas.microsoft.com/office/drawing/2014/main" id="{D97469CB-DFAC-3363-9148-84F43181F7CE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Geoscience Manager</a:t>
              </a:r>
            </a:p>
            <a:p>
              <a:pPr algn="ctr"/>
              <a:r>
                <a:rPr lang="en-US" sz="1100" dirty="0" err="1"/>
                <a:t>Bilel</a:t>
              </a:r>
              <a:endParaRPr lang="en-US" sz="1200" dirty="0"/>
            </a:p>
          </p:txBody>
        </p:sp>
        <p:sp>
          <p:nvSpPr>
            <p:cNvPr id="171" name="object 21">
              <a:extLst>
                <a:ext uri="{FF2B5EF4-FFF2-40B4-BE49-F238E27FC236}">
                  <a16:creationId xmlns:a16="http://schemas.microsoft.com/office/drawing/2014/main" id="{35AC2767-EC6F-9317-9CD4-0076A5E277DA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90" name="object 18">
            <a:extLst>
              <a:ext uri="{FF2B5EF4-FFF2-40B4-BE49-F238E27FC236}">
                <a16:creationId xmlns:a16="http://schemas.microsoft.com/office/drawing/2014/main" id="{EBCEDCEF-E9E8-16B8-84CA-ED7EEB306A8B}"/>
              </a:ext>
            </a:extLst>
          </p:cNvPr>
          <p:cNvGrpSpPr/>
          <p:nvPr/>
        </p:nvGrpSpPr>
        <p:grpSpPr>
          <a:xfrm>
            <a:off x="2985738" y="3761068"/>
            <a:ext cx="1017110" cy="494938"/>
            <a:chOff x="4427730" y="1086611"/>
            <a:chExt cx="1250882" cy="227952"/>
          </a:xfrm>
        </p:grpSpPr>
        <p:sp>
          <p:nvSpPr>
            <p:cNvPr id="191" name="object 20">
              <a:extLst>
                <a:ext uri="{FF2B5EF4-FFF2-40B4-BE49-F238E27FC236}">
                  <a16:creationId xmlns:a16="http://schemas.microsoft.com/office/drawing/2014/main" id="{80D10E78-A833-0C7C-EDBF-1DCF80C37CA8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Geophysics Manager</a:t>
              </a:r>
            </a:p>
            <a:p>
              <a:pPr algn="ctr"/>
              <a:r>
                <a:rPr lang="en-US" sz="1100" dirty="0"/>
                <a:t>Amine/</a:t>
              </a:r>
              <a:r>
                <a:rPr lang="en-US" sz="1100" dirty="0" err="1"/>
                <a:t>Yacine</a:t>
              </a:r>
              <a:endParaRPr lang="en-US" sz="1200" dirty="0"/>
            </a:p>
          </p:txBody>
        </p:sp>
        <p:sp>
          <p:nvSpPr>
            <p:cNvPr id="192" name="object 21">
              <a:extLst>
                <a:ext uri="{FF2B5EF4-FFF2-40B4-BE49-F238E27FC236}">
                  <a16:creationId xmlns:a16="http://schemas.microsoft.com/office/drawing/2014/main" id="{09EA5096-D7BF-FCA8-9083-7EEFD50CDC19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93" name="object 18">
            <a:extLst>
              <a:ext uri="{FF2B5EF4-FFF2-40B4-BE49-F238E27FC236}">
                <a16:creationId xmlns:a16="http://schemas.microsoft.com/office/drawing/2014/main" id="{41885F99-0BEC-3B37-37EC-5EBF2758B1C0}"/>
              </a:ext>
            </a:extLst>
          </p:cNvPr>
          <p:cNvGrpSpPr/>
          <p:nvPr/>
        </p:nvGrpSpPr>
        <p:grpSpPr>
          <a:xfrm>
            <a:off x="4237130" y="3740170"/>
            <a:ext cx="1017110" cy="494938"/>
            <a:chOff x="4427730" y="1086611"/>
            <a:chExt cx="1250882" cy="227952"/>
          </a:xfrm>
        </p:grpSpPr>
        <p:sp>
          <p:nvSpPr>
            <p:cNvPr id="194" name="object 20">
              <a:extLst>
                <a:ext uri="{FF2B5EF4-FFF2-40B4-BE49-F238E27FC236}">
                  <a16:creationId xmlns:a16="http://schemas.microsoft.com/office/drawing/2014/main" id="{0F50B0B3-8D02-D8FB-A6EA-2839A896041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Geomodelling Manager</a:t>
              </a:r>
            </a:p>
            <a:p>
              <a:pPr algn="ctr"/>
              <a:r>
                <a:rPr lang="en-US" sz="1100" dirty="0"/>
                <a:t>Mohamed</a:t>
              </a:r>
              <a:endParaRPr lang="en-US" sz="1200" dirty="0"/>
            </a:p>
          </p:txBody>
        </p:sp>
        <p:sp>
          <p:nvSpPr>
            <p:cNvPr id="195" name="object 21">
              <a:extLst>
                <a:ext uri="{FF2B5EF4-FFF2-40B4-BE49-F238E27FC236}">
                  <a16:creationId xmlns:a16="http://schemas.microsoft.com/office/drawing/2014/main" id="{890ECF1F-695F-FB87-579F-35AADDA94489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96" name="object 18">
            <a:extLst>
              <a:ext uri="{FF2B5EF4-FFF2-40B4-BE49-F238E27FC236}">
                <a16:creationId xmlns:a16="http://schemas.microsoft.com/office/drawing/2014/main" id="{D0C28D72-1A1C-73A3-964E-3B59399FF2EC}"/>
              </a:ext>
            </a:extLst>
          </p:cNvPr>
          <p:cNvGrpSpPr/>
          <p:nvPr/>
        </p:nvGrpSpPr>
        <p:grpSpPr>
          <a:xfrm>
            <a:off x="2987768" y="4909571"/>
            <a:ext cx="1017110" cy="494938"/>
            <a:chOff x="4427730" y="1086611"/>
            <a:chExt cx="1250882" cy="227952"/>
          </a:xfrm>
        </p:grpSpPr>
        <p:sp>
          <p:nvSpPr>
            <p:cNvPr id="197" name="object 20">
              <a:extLst>
                <a:ext uri="{FF2B5EF4-FFF2-40B4-BE49-F238E27FC236}">
                  <a16:creationId xmlns:a16="http://schemas.microsoft.com/office/drawing/2014/main" id="{4FCCD782-A48F-99EB-C38F-8E2FA7E8C7AC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Party Manager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QCs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Field Team</a:t>
              </a:r>
              <a:endParaRPr lang="en-US" sz="1200" dirty="0"/>
            </a:p>
          </p:txBody>
        </p:sp>
        <p:sp>
          <p:nvSpPr>
            <p:cNvPr id="198" name="object 21">
              <a:extLst>
                <a:ext uri="{FF2B5EF4-FFF2-40B4-BE49-F238E27FC236}">
                  <a16:creationId xmlns:a16="http://schemas.microsoft.com/office/drawing/2014/main" id="{1939E11C-7B31-96A0-6438-456426E4870A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199" name="object 18">
            <a:extLst>
              <a:ext uri="{FF2B5EF4-FFF2-40B4-BE49-F238E27FC236}">
                <a16:creationId xmlns:a16="http://schemas.microsoft.com/office/drawing/2014/main" id="{96E64965-70A0-8113-0275-C4ED6FBF779F}"/>
              </a:ext>
            </a:extLst>
          </p:cNvPr>
          <p:cNvGrpSpPr/>
          <p:nvPr/>
        </p:nvGrpSpPr>
        <p:grpSpPr>
          <a:xfrm>
            <a:off x="4100175" y="4909575"/>
            <a:ext cx="1316263" cy="357491"/>
            <a:chOff x="4427730" y="1086611"/>
            <a:chExt cx="1250882" cy="227952"/>
          </a:xfrm>
        </p:grpSpPr>
        <p:sp>
          <p:nvSpPr>
            <p:cNvPr id="200" name="object 20">
              <a:extLst>
                <a:ext uri="{FF2B5EF4-FFF2-40B4-BE49-F238E27FC236}">
                  <a16:creationId xmlns:a16="http://schemas.microsoft.com/office/drawing/2014/main" id="{4BF28A39-3156-422B-0E18-F53DA9A9EE8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Reservoir Analyst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 manager</a:t>
              </a:r>
            </a:p>
          </p:txBody>
        </p:sp>
        <p:sp>
          <p:nvSpPr>
            <p:cNvPr id="201" name="object 21">
              <a:extLst>
                <a:ext uri="{FF2B5EF4-FFF2-40B4-BE49-F238E27FC236}">
                  <a16:creationId xmlns:a16="http://schemas.microsoft.com/office/drawing/2014/main" id="{AC74FE15-DDF3-CB0B-2F63-5AA71875C788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02" name="object 18">
            <a:extLst>
              <a:ext uri="{FF2B5EF4-FFF2-40B4-BE49-F238E27FC236}">
                <a16:creationId xmlns:a16="http://schemas.microsoft.com/office/drawing/2014/main" id="{3E7B19AF-84B5-845E-2BA3-57B63497C38D}"/>
              </a:ext>
            </a:extLst>
          </p:cNvPr>
          <p:cNvGrpSpPr/>
          <p:nvPr/>
        </p:nvGrpSpPr>
        <p:grpSpPr>
          <a:xfrm>
            <a:off x="1642045" y="4909571"/>
            <a:ext cx="1183622" cy="357494"/>
            <a:chOff x="4427730" y="1086611"/>
            <a:chExt cx="1250882" cy="227952"/>
          </a:xfrm>
        </p:grpSpPr>
        <p:sp>
          <p:nvSpPr>
            <p:cNvPr id="203" name="object 20">
              <a:extLst>
                <a:ext uri="{FF2B5EF4-FFF2-40B4-BE49-F238E27FC236}">
                  <a16:creationId xmlns:a16="http://schemas.microsoft.com/office/drawing/2014/main" id="{77DAD95F-8D2E-92B4-99B4-9DD6B363871D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MWD&amp;LWD Team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G&amp;G Team</a:t>
              </a:r>
            </a:p>
          </p:txBody>
        </p:sp>
        <p:sp>
          <p:nvSpPr>
            <p:cNvPr id="204" name="object 21">
              <a:extLst>
                <a:ext uri="{FF2B5EF4-FFF2-40B4-BE49-F238E27FC236}">
                  <a16:creationId xmlns:a16="http://schemas.microsoft.com/office/drawing/2014/main" id="{6E7ED74D-5D82-4BD3-F328-9D97CEC12BE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05" name="object 18">
            <a:extLst>
              <a:ext uri="{FF2B5EF4-FFF2-40B4-BE49-F238E27FC236}">
                <a16:creationId xmlns:a16="http://schemas.microsoft.com/office/drawing/2014/main" id="{5E5A0BE8-F7D8-99D2-4959-3D3A287DD814}"/>
              </a:ext>
            </a:extLst>
          </p:cNvPr>
          <p:cNvGrpSpPr/>
          <p:nvPr/>
        </p:nvGrpSpPr>
        <p:grpSpPr>
          <a:xfrm>
            <a:off x="8263760" y="4909572"/>
            <a:ext cx="965239" cy="519357"/>
            <a:chOff x="4427730" y="1086611"/>
            <a:chExt cx="1250882" cy="227952"/>
          </a:xfrm>
        </p:grpSpPr>
        <p:sp>
          <p:nvSpPr>
            <p:cNvPr id="206" name="object 20">
              <a:extLst>
                <a:ext uri="{FF2B5EF4-FFF2-40B4-BE49-F238E27FC236}">
                  <a16:creationId xmlns:a16="http://schemas.microsoft.com/office/drawing/2014/main" id="{79106A26-CED0-15E4-1295-8B0705F761A5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Rig Manager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Rig Crew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Others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07" name="object 21">
              <a:extLst>
                <a:ext uri="{FF2B5EF4-FFF2-40B4-BE49-F238E27FC236}">
                  <a16:creationId xmlns:a16="http://schemas.microsoft.com/office/drawing/2014/main" id="{2CFC8CF8-9ED4-4ED0-76D1-183B4E406242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08" name="object 18">
            <a:extLst>
              <a:ext uri="{FF2B5EF4-FFF2-40B4-BE49-F238E27FC236}">
                <a16:creationId xmlns:a16="http://schemas.microsoft.com/office/drawing/2014/main" id="{7136E14C-A3D3-F3DA-0A4E-EFBCB2EF96D6}"/>
              </a:ext>
            </a:extLst>
          </p:cNvPr>
          <p:cNvGrpSpPr/>
          <p:nvPr/>
        </p:nvGrpSpPr>
        <p:grpSpPr>
          <a:xfrm>
            <a:off x="6882910" y="4909575"/>
            <a:ext cx="1114565" cy="834522"/>
            <a:chOff x="4427730" y="1086611"/>
            <a:chExt cx="1250882" cy="227952"/>
          </a:xfrm>
        </p:grpSpPr>
        <p:sp>
          <p:nvSpPr>
            <p:cNvPr id="209" name="object 20">
              <a:extLst>
                <a:ext uri="{FF2B5EF4-FFF2-40B4-BE49-F238E27FC236}">
                  <a16:creationId xmlns:a16="http://schemas.microsoft.com/office/drawing/2014/main" id="{14E2B7B6-3BA9-43D2-CE1A-78BA1FD182C8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Well testing Production Crew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Instrumentation technicians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Others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10" name="object 21">
              <a:extLst>
                <a:ext uri="{FF2B5EF4-FFF2-40B4-BE49-F238E27FC236}">
                  <a16:creationId xmlns:a16="http://schemas.microsoft.com/office/drawing/2014/main" id="{F06CC23D-F007-DA9E-6CDD-04F3090126FC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4DC4BB7-FBB5-7812-0E33-2437553E6D24}"/>
              </a:ext>
            </a:extLst>
          </p:cNvPr>
          <p:cNvSpPr/>
          <p:nvPr/>
        </p:nvSpPr>
        <p:spPr>
          <a:xfrm>
            <a:off x="1717210" y="3313917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55389F6-F8FE-E8B1-CC74-4C55F297138C}"/>
              </a:ext>
            </a:extLst>
          </p:cNvPr>
          <p:cNvSpPr/>
          <p:nvPr/>
        </p:nvSpPr>
        <p:spPr>
          <a:xfrm>
            <a:off x="2985738" y="3316668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12998D2-B2C0-62E9-8051-1670AAE5B774}"/>
              </a:ext>
            </a:extLst>
          </p:cNvPr>
          <p:cNvSpPr/>
          <p:nvPr/>
        </p:nvSpPr>
        <p:spPr>
          <a:xfrm>
            <a:off x="4254266" y="3314716"/>
            <a:ext cx="1017110" cy="1345846"/>
          </a:xfrm>
          <a:prstGeom prst="rect">
            <a:avLst/>
          </a:prstGeom>
          <a:noFill/>
          <a:ln>
            <a:solidFill>
              <a:srgbClr val="697D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2"/>
          </a:p>
        </p:txBody>
      </p:sp>
      <p:grpSp>
        <p:nvGrpSpPr>
          <p:cNvPr id="217" name="object 18">
            <a:extLst>
              <a:ext uri="{FF2B5EF4-FFF2-40B4-BE49-F238E27FC236}">
                <a16:creationId xmlns:a16="http://schemas.microsoft.com/office/drawing/2014/main" id="{207286EA-0481-0928-FAA6-B6359E296478}"/>
              </a:ext>
            </a:extLst>
          </p:cNvPr>
          <p:cNvGrpSpPr/>
          <p:nvPr/>
        </p:nvGrpSpPr>
        <p:grpSpPr>
          <a:xfrm>
            <a:off x="9566496" y="4909571"/>
            <a:ext cx="965239" cy="540739"/>
            <a:chOff x="4427730" y="1086611"/>
            <a:chExt cx="1250882" cy="227952"/>
          </a:xfrm>
        </p:grpSpPr>
        <p:sp>
          <p:nvSpPr>
            <p:cNvPr id="218" name="object 20">
              <a:extLst>
                <a:ext uri="{FF2B5EF4-FFF2-40B4-BE49-F238E27FC236}">
                  <a16:creationId xmlns:a16="http://schemas.microsoft.com/office/drawing/2014/main" id="{7977824C-4B14-90CE-5CD9-95B82065C6CF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Frac Crew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Others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19" name="object 21">
              <a:extLst>
                <a:ext uri="{FF2B5EF4-FFF2-40B4-BE49-F238E27FC236}">
                  <a16:creationId xmlns:a16="http://schemas.microsoft.com/office/drawing/2014/main" id="{38D95468-DCDE-6D59-3EBF-67D34E2F5C43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23" name="object 18">
            <a:extLst>
              <a:ext uri="{FF2B5EF4-FFF2-40B4-BE49-F238E27FC236}">
                <a16:creationId xmlns:a16="http://schemas.microsoft.com/office/drawing/2014/main" id="{F15A6ECD-D1EA-F712-8FD9-426A8E0645B7}"/>
              </a:ext>
            </a:extLst>
          </p:cNvPr>
          <p:cNvGrpSpPr/>
          <p:nvPr/>
        </p:nvGrpSpPr>
        <p:grpSpPr>
          <a:xfrm>
            <a:off x="5647673" y="4909571"/>
            <a:ext cx="965239" cy="834526"/>
            <a:chOff x="4427730" y="1086611"/>
            <a:chExt cx="1250882" cy="227952"/>
          </a:xfrm>
        </p:grpSpPr>
        <p:sp>
          <p:nvSpPr>
            <p:cNvPr id="224" name="object 20">
              <a:extLst>
                <a:ext uri="{FF2B5EF4-FFF2-40B4-BE49-F238E27FC236}">
                  <a16:creationId xmlns:a16="http://schemas.microsoft.com/office/drawing/2014/main" id="{9DB3AE9C-5FE0-31E8-E3FA-27DCC97352A3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Drillers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Derrick men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Floormen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Roustabouts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Others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25" name="object 21">
              <a:extLst>
                <a:ext uri="{FF2B5EF4-FFF2-40B4-BE49-F238E27FC236}">
                  <a16:creationId xmlns:a16="http://schemas.microsoft.com/office/drawing/2014/main" id="{700BC0DE-14DC-DBFA-7B02-A218A6153683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97CFC440-1746-5A2E-0414-304A07D77EAB}"/>
              </a:ext>
            </a:extLst>
          </p:cNvPr>
          <p:cNvCxnSpPr>
            <a:cxnSpLocks/>
          </p:cNvCxnSpPr>
          <p:nvPr/>
        </p:nvCxnSpPr>
        <p:spPr>
          <a:xfrm>
            <a:off x="2241638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9D628450-49A0-555B-318D-F9D35D120BA5}"/>
              </a:ext>
            </a:extLst>
          </p:cNvPr>
          <p:cNvCxnSpPr>
            <a:cxnSpLocks/>
          </p:cNvCxnSpPr>
          <p:nvPr/>
        </p:nvCxnSpPr>
        <p:spPr>
          <a:xfrm>
            <a:off x="3494293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009C5485-7ACF-94D7-6F17-F26F5F821977}"/>
              </a:ext>
            </a:extLst>
          </p:cNvPr>
          <p:cNvCxnSpPr>
            <a:cxnSpLocks/>
          </p:cNvCxnSpPr>
          <p:nvPr/>
        </p:nvCxnSpPr>
        <p:spPr>
          <a:xfrm>
            <a:off x="4745685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E7688277-5B45-0C19-7FC1-59964CCF0BB5}"/>
              </a:ext>
            </a:extLst>
          </p:cNvPr>
          <p:cNvCxnSpPr>
            <a:cxnSpLocks/>
          </p:cNvCxnSpPr>
          <p:nvPr/>
        </p:nvCxnSpPr>
        <p:spPr>
          <a:xfrm>
            <a:off x="6137140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714E946F-3324-F9C8-5A72-482CE6459923}"/>
              </a:ext>
            </a:extLst>
          </p:cNvPr>
          <p:cNvCxnSpPr>
            <a:cxnSpLocks/>
          </p:cNvCxnSpPr>
          <p:nvPr/>
        </p:nvCxnSpPr>
        <p:spPr>
          <a:xfrm>
            <a:off x="7445789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3F48D77B-64EB-846A-9899-DEAE6C97FF47}"/>
              </a:ext>
            </a:extLst>
          </p:cNvPr>
          <p:cNvCxnSpPr>
            <a:cxnSpLocks/>
          </p:cNvCxnSpPr>
          <p:nvPr/>
        </p:nvCxnSpPr>
        <p:spPr>
          <a:xfrm>
            <a:off x="8777614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110D4CDB-4592-7084-6923-77A7A4EDD8B5}"/>
              </a:ext>
            </a:extLst>
          </p:cNvPr>
          <p:cNvCxnSpPr>
            <a:cxnSpLocks/>
          </p:cNvCxnSpPr>
          <p:nvPr/>
        </p:nvCxnSpPr>
        <p:spPr>
          <a:xfrm>
            <a:off x="10034902" y="4662457"/>
            <a:ext cx="0" cy="24711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EA35E5DE-933F-1F40-F386-84192781DC4F}"/>
              </a:ext>
            </a:extLst>
          </p:cNvPr>
          <p:cNvCxnSpPr>
            <a:cxnSpLocks/>
          </p:cNvCxnSpPr>
          <p:nvPr/>
        </p:nvCxnSpPr>
        <p:spPr>
          <a:xfrm>
            <a:off x="3393512" y="2944091"/>
            <a:ext cx="0" cy="28870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1C86D52D-51DB-4C11-C9DF-0F3CD353FBAD}"/>
              </a:ext>
            </a:extLst>
          </p:cNvPr>
          <p:cNvGrpSpPr/>
          <p:nvPr/>
        </p:nvGrpSpPr>
        <p:grpSpPr>
          <a:xfrm>
            <a:off x="10473392" y="1968127"/>
            <a:ext cx="1626837" cy="534611"/>
            <a:chOff x="10175132" y="504612"/>
            <a:chExt cx="1626837" cy="534611"/>
          </a:xfrm>
        </p:grpSpPr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3473396D-9E66-56AA-FEB2-D459D5C26AFB}"/>
                </a:ext>
              </a:extLst>
            </p:cNvPr>
            <p:cNvGrpSpPr/>
            <p:nvPr/>
          </p:nvGrpSpPr>
          <p:grpSpPr>
            <a:xfrm>
              <a:off x="10175132" y="504612"/>
              <a:ext cx="1626837" cy="253916"/>
              <a:chOff x="10175132" y="504612"/>
              <a:chExt cx="1626837" cy="253916"/>
            </a:xfrm>
          </p:grpSpPr>
          <p:cxnSp>
            <p:nvCxnSpPr>
              <p:cNvPr id="279" name="Straight Arrow Connector 278">
                <a:extLst>
                  <a:ext uri="{FF2B5EF4-FFF2-40B4-BE49-F238E27FC236}">
                    <a16:creationId xmlns:a16="http://schemas.microsoft.com/office/drawing/2014/main" id="{681ABCDB-8888-19AC-1FC5-89CD13C6CD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5132" y="621971"/>
                <a:ext cx="495349" cy="6052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1CDEBE8-6522-BA8F-9CE3-B461A7F1BD18}"/>
                  </a:ext>
                </a:extLst>
              </p:cNvPr>
              <p:cNvSpPr txBox="1"/>
              <p:nvPr/>
            </p:nvSpPr>
            <p:spPr>
              <a:xfrm>
                <a:off x="10595739" y="504612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Information flow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5BC92F5A-2153-827C-5D8C-1C5CC785553A}"/>
                </a:ext>
              </a:extLst>
            </p:cNvPr>
            <p:cNvGrpSpPr/>
            <p:nvPr/>
          </p:nvGrpSpPr>
          <p:grpSpPr>
            <a:xfrm>
              <a:off x="10204315" y="785307"/>
              <a:ext cx="1597654" cy="253916"/>
              <a:chOff x="10204315" y="785307"/>
              <a:chExt cx="1597654" cy="253916"/>
            </a:xfrm>
          </p:grpSpPr>
          <p:cxnSp>
            <p:nvCxnSpPr>
              <p:cNvPr id="277" name="Straight Arrow Connector 276">
                <a:extLst>
                  <a:ext uri="{FF2B5EF4-FFF2-40B4-BE49-F238E27FC236}">
                    <a16:creationId xmlns:a16="http://schemas.microsoft.com/office/drawing/2014/main" id="{1E7352D9-824E-9073-CDD7-F05954A0312B}"/>
                  </a:ext>
                </a:extLst>
              </p:cNvPr>
              <p:cNvCxnSpPr/>
              <p:nvPr/>
            </p:nvCxnSpPr>
            <p:spPr>
              <a:xfrm>
                <a:off x="10204315" y="912265"/>
                <a:ext cx="467889" cy="0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A6D74B73-0857-0777-49D5-DE22371A69B6}"/>
                  </a:ext>
                </a:extLst>
              </p:cNvPr>
              <p:cNvSpPr txBox="1"/>
              <p:nvPr/>
            </p:nvSpPr>
            <p:spPr>
              <a:xfrm>
                <a:off x="10595739" y="785307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Authority Flow</a:t>
                </a:r>
              </a:p>
            </p:txBody>
          </p:sp>
        </p:grp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513C352-2DE7-2985-805B-25C74A65DD10}"/>
              </a:ext>
            </a:extLst>
          </p:cNvPr>
          <p:cNvCxnSpPr>
            <a:cxnSpLocks/>
            <a:stCxn id="253" idx="3"/>
            <a:endCxn id="164" idx="1"/>
          </p:cNvCxnSpPr>
          <p:nvPr/>
        </p:nvCxnSpPr>
        <p:spPr>
          <a:xfrm flipV="1">
            <a:off x="10654747" y="3969663"/>
            <a:ext cx="369240" cy="13158"/>
          </a:xfrm>
          <a:prstGeom prst="straightConnector1">
            <a:avLst/>
          </a:prstGeom>
          <a:ln w="19050">
            <a:solidFill>
              <a:srgbClr val="697D3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42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405">
            <a:extLst>
              <a:ext uri="{FF2B5EF4-FFF2-40B4-BE49-F238E27FC236}">
                <a16:creationId xmlns:a16="http://schemas.microsoft.com/office/drawing/2014/main" id="{8F55D8AF-B23F-95D0-9726-46FD654611F7}"/>
              </a:ext>
            </a:extLst>
          </p:cNvPr>
          <p:cNvSpPr/>
          <p:nvPr/>
        </p:nvSpPr>
        <p:spPr>
          <a:xfrm>
            <a:off x="301523" y="2711466"/>
            <a:ext cx="11736201" cy="706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Houston: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4E8210A-FF1A-2285-68D7-EE7351D72153}"/>
              </a:ext>
            </a:extLst>
          </p:cNvPr>
          <p:cNvSpPr/>
          <p:nvPr/>
        </p:nvSpPr>
        <p:spPr>
          <a:xfrm>
            <a:off x="304339" y="3487267"/>
            <a:ext cx="11736201" cy="12840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PNR (Rotation 1,2)</a:t>
            </a:r>
            <a:r>
              <a:rPr lang="en-US" sz="1200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E7ECF6C-AE8D-2C1D-BD56-248AC3956B01}"/>
              </a:ext>
            </a:extLst>
          </p:cNvPr>
          <p:cNvSpPr/>
          <p:nvPr/>
        </p:nvSpPr>
        <p:spPr>
          <a:xfrm>
            <a:off x="301523" y="4866108"/>
            <a:ext cx="11736201" cy="15166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Sites / Project 1,2,..n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2.0 	 Operational Structure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grpSp>
        <p:nvGrpSpPr>
          <p:cNvPr id="25" name="object 18">
            <a:extLst>
              <a:ext uri="{FF2B5EF4-FFF2-40B4-BE49-F238E27FC236}">
                <a16:creationId xmlns:a16="http://schemas.microsoft.com/office/drawing/2014/main" id="{ACCDCAC8-8558-5A91-8723-3195B50252FE}"/>
              </a:ext>
            </a:extLst>
          </p:cNvPr>
          <p:cNvGrpSpPr/>
          <p:nvPr/>
        </p:nvGrpSpPr>
        <p:grpSpPr>
          <a:xfrm>
            <a:off x="4991301" y="1051808"/>
            <a:ext cx="1976134" cy="505939"/>
            <a:chOff x="4411803" y="1086611"/>
            <a:chExt cx="1529627" cy="477698"/>
          </a:xfrm>
        </p:grpSpPr>
        <p:pic>
          <p:nvPicPr>
            <p:cNvPr id="26" name="object 19">
              <a:extLst>
                <a:ext uri="{FF2B5EF4-FFF2-40B4-BE49-F238E27FC236}">
                  <a16:creationId xmlns:a16="http://schemas.microsoft.com/office/drawing/2014/main" id="{C8DECB43-A755-B11A-FD82-935EBCADAF3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1D22C305-CEBD-01A7-2197-69DDD012AC76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endParaRPr lang="pt-BR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CEO&amp;CLIENT</a:t>
              </a: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08B119F8-598F-C5C1-54B0-BCD45521D5BD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5469494" cy="3440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2.3	Congo Coordination &amp; Operations’ Structure 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94D1352-AC92-B484-AC14-0AA92F7A5116}"/>
              </a:ext>
            </a:extLst>
          </p:cNvPr>
          <p:cNvCxnSpPr>
            <a:cxnSpLocks/>
          </p:cNvCxnSpPr>
          <p:nvPr/>
        </p:nvCxnSpPr>
        <p:spPr>
          <a:xfrm>
            <a:off x="5938887" y="1801858"/>
            <a:ext cx="1662052" cy="128184"/>
          </a:xfrm>
          <a:prstGeom prst="bentConnector3">
            <a:avLst>
              <a:gd name="adj1" fmla="val 10020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6427F35D-63DC-F98F-4403-000CB4E8810A}"/>
              </a:ext>
            </a:extLst>
          </p:cNvPr>
          <p:cNvGrpSpPr/>
          <p:nvPr/>
        </p:nvGrpSpPr>
        <p:grpSpPr>
          <a:xfrm>
            <a:off x="6876861" y="1911479"/>
            <a:ext cx="1715254" cy="672808"/>
            <a:chOff x="4411803" y="1086611"/>
            <a:chExt cx="1529627" cy="477698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41656A63-07D3-8C53-192B-CFA152B9BC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6C5AAE45-3C86-1CCD-D0AE-1F8ED199167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Country Manager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(Local Operations)</a:t>
              </a:r>
            </a:p>
            <a:p>
              <a:pPr algn="ctr"/>
              <a:r>
                <a:rPr lang="en-US" sz="1200" b="1" dirty="0" err="1"/>
                <a:t>Imane</a:t>
              </a:r>
              <a:endParaRPr lang="en-US" sz="1200" b="1" dirty="0"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CC702AFE-123E-9E4B-C112-BCDD701721A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1" name="object 18">
            <a:extLst>
              <a:ext uri="{FF2B5EF4-FFF2-40B4-BE49-F238E27FC236}">
                <a16:creationId xmlns:a16="http://schemas.microsoft.com/office/drawing/2014/main" id="{38CD6AD2-DBD2-31B5-E493-7E46B34FCA3A}"/>
              </a:ext>
            </a:extLst>
          </p:cNvPr>
          <p:cNvGrpSpPr/>
          <p:nvPr/>
        </p:nvGrpSpPr>
        <p:grpSpPr>
          <a:xfrm>
            <a:off x="2363822" y="1955875"/>
            <a:ext cx="1715254" cy="672808"/>
            <a:chOff x="4411803" y="1086611"/>
            <a:chExt cx="1529627" cy="477698"/>
          </a:xfrm>
        </p:grpSpPr>
        <p:pic>
          <p:nvPicPr>
            <p:cNvPr id="22" name="object 19">
              <a:extLst>
                <a:ext uri="{FF2B5EF4-FFF2-40B4-BE49-F238E27FC236}">
                  <a16:creationId xmlns:a16="http://schemas.microsoft.com/office/drawing/2014/main" id="{C188CDA5-B807-9719-DB3D-2D9451CDE23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894D97EA-ED79-B290-EF9E-A729DF030183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VP International Operations</a:t>
              </a:r>
            </a:p>
            <a:p>
              <a:pPr algn="ctr"/>
              <a:r>
                <a:rPr lang="en-US" sz="1200" b="1" dirty="0"/>
                <a:t>Sama</a:t>
              </a:r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E793E293-C1D3-F252-75E2-02372C96D69A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99972B3-FD96-DA70-275B-6967A3633B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50090" y="1801943"/>
            <a:ext cx="2829278" cy="157577"/>
          </a:xfrm>
          <a:prstGeom prst="bentConnector3">
            <a:avLst>
              <a:gd name="adj1" fmla="val 99825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E9AAFE7-5E2D-367D-2D26-9DAF5E90D001}"/>
              </a:ext>
            </a:extLst>
          </p:cNvPr>
          <p:cNvCxnSpPr>
            <a:cxnSpLocks/>
          </p:cNvCxnSpPr>
          <p:nvPr/>
        </p:nvCxnSpPr>
        <p:spPr>
          <a:xfrm>
            <a:off x="5884638" y="1386848"/>
            <a:ext cx="0" cy="423081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009C5485-7ACF-94D7-6F17-F26F5F821977}"/>
              </a:ext>
            </a:extLst>
          </p:cNvPr>
          <p:cNvCxnSpPr>
            <a:cxnSpLocks/>
          </p:cNvCxnSpPr>
          <p:nvPr/>
        </p:nvCxnSpPr>
        <p:spPr>
          <a:xfrm>
            <a:off x="2630019" y="2700195"/>
            <a:ext cx="0" cy="186373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object 18">
            <a:extLst>
              <a:ext uri="{FF2B5EF4-FFF2-40B4-BE49-F238E27FC236}">
                <a16:creationId xmlns:a16="http://schemas.microsoft.com/office/drawing/2014/main" id="{491674C4-104E-3DE1-EBEE-07A7AA628C9F}"/>
              </a:ext>
            </a:extLst>
          </p:cNvPr>
          <p:cNvGrpSpPr/>
          <p:nvPr/>
        </p:nvGrpSpPr>
        <p:grpSpPr>
          <a:xfrm>
            <a:off x="5059404" y="3511835"/>
            <a:ext cx="888703" cy="456051"/>
            <a:chOff x="4427730" y="1086611"/>
            <a:chExt cx="1250882" cy="227952"/>
          </a:xfrm>
        </p:grpSpPr>
        <p:sp>
          <p:nvSpPr>
            <p:cNvPr id="296" name="object 20">
              <a:extLst>
                <a:ext uri="{FF2B5EF4-FFF2-40B4-BE49-F238E27FC236}">
                  <a16:creationId xmlns:a16="http://schemas.microsoft.com/office/drawing/2014/main" id="{19E700DA-6E40-1758-12EF-67DD1EB1E247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Finance Coordinator</a:t>
              </a:r>
            </a:p>
            <a:p>
              <a:pPr algn="ctr"/>
              <a:r>
                <a:rPr lang="en-US" sz="950" dirty="0" err="1"/>
                <a:t>Rochidi</a:t>
              </a:r>
              <a:r>
                <a:rPr lang="en-US" sz="950" dirty="0"/>
                <a:t>/XX</a:t>
              </a:r>
            </a:p>
          </p:txBody>
        </p:sp>
        <p:sp>
          <p:nvSpPr>
            <p:cNvPr id="297" name="object 21">
              <a:extLst>
                <a:ext uri="{FF2B5EF4-FFF2-40B4-BE49-F238E27FC236}">
                  <a16:creationId xmlns:a16="http://schemas.microsoft.com/office/drawing/2014/main" id="{9B5619A6-A214-2163-E5A9-2F43A31554B4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98" name="object 18">
            <a:extLst>
              <a:ext uri="{FF2B5EF4-FFF2-40B4-BE49-F238E27FC236}">
                <a16:creationId xmlns:a16="http://schemas.microsoft.com/office/drawing/2014/main" id="{98748FFD-6136-FDA4-715C-B5E076A64A3A}"/>
              </a:ext>
            </a:extLst>
          </p:cNvPr>
          <p:cNvGrpSpPr/>
          <p:nvPr/>
        </p:nvGrpSpPr>
        <p:grpSpPr>
          <a:xfrm>
            <a:off x="6267885" y="3511835"/>
            <a:ext cx="888703" cy="614542"/>
            <a:chOff x="4427730" y="1086611"/>
            <a:chExt cx="1250882" cy="227952"/>
          </a:xfrm>
        </p:grpSpPr>
        <p:sp>
          <p:nvSpPr>
            <p:cNvPr id="299" name="object 20">
              <a:extLst>
                <a:ext uri="{FF2B5EF4-FFF2-40B4-BE49-F238E27FC236}">
                  <a16:creationId xmlns:a16="http://schemas.microsoft.com/office/drawing/2014/main" id="{64D864F4-DF22-A7A5-983C-8D8C4E622124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Purchasing &amp; Operations Coordinator</a:t>
              </a:r>
            </a:p>
            <a:p>
              <a:pPr algn="ctr"/>
              <a:r>
                <a:rPr lang="en-US" sz="950" dirty="0"/>
                <a:t>Omar/Taher</a:t>
              </a:r>
            </a:p>
          </p:txBody>
        </p:sp>
        <p:sp>
          <p:nvSpPr>
            <p:cNvPr id="300" name="object 21">
              <a:extLst>
                <a:ext uri="{FF2B5EF4-FFF2-40B4-BE49-F238E27FC236}">
                  <a16:creationId xmlns:a16="http://schemas.microsoft.com/office/drawing/2014/main" id="{29720157-B050-41E9-0C28-82312A4FFBB8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01" name="object 18">
            <a:extLst>
              <a:ext uri="{FF2B5EF4-FFF2-40B4-BE49-F238E27FC236}">
                <a16:creationId xmlns:a16="http://schemas.microsoft.com/office/drawing/2014/main" id="{01CF99F5-F6F4-24F4-0AFD-EAB2CA30438C}"/>
              </a:ext>
            </a:extLst>
          </p:cNvPr>
          <p:cNvGrpSpPr/>
          <p:nvPr/>
        </p:nvGrpSpPr>
        <p:grpSpPr>
          <a:xfrm>
            <a:off x="7950101" y="3517909"/>
            <a:ext cx="888703" cy="614542"/>
            <a:chOff x="4427730" y="1086611"/>
            <a:chExt cx="1250882" cy="227952"/>
          </a:xfrm>
        </p:grpSpPr>
        <p:sp>
          <p:nvSpPr>
            <p:cNvPr id="302" name="object 20">
              <a:extLst>
                <a:ext uri="{FF2B5EF4-FFF2-40B4-BE49-F238E27FC236}">
                  <a16:creationId xmlns:a16="http://schemas.microsoft.com/office/drawing/2014/main" id="{1694AFEC-9DAB-5B2E-F6A3-ECB0117FF56D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Supply &amp; Logistics Coordinator</a:t>
              </a:r>
            </a:p>
            <a:p>
              <a:pPr algn="ctr"/>
              <a:r>
                <a:rPr lang="en-US" sz="950" dirty="0"/>
                <a:t>Richard/</a:t>
              </a:r>
              <a:r>
                <a:rPr lang="en-US" sz="950" dirty="0" err="1"/>
                <a:t>Nidhal</a:t>
              </a:r>
              <a:endParaRPr lang="en-US" sz="950" dirty="0"/>
            </a:p>
          </p:txBody>
        </p:sp>
        <p:sp>
          <p:nvSpPr>
            <p:cNvPr id="303" name="object 21">
              <a:extLst>
                <a:ext uri="{FF2B5EF4-FFF2-40B4-BE49-F238E27FC236}">
                  <a16:creationId xmlns:a16="http://schemas.microsoft.com/office/drawing/2014/main" id="{816A87FD-CF2D-EAEA-CD83-60105049CB52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04" name="object 18">
            <a:extLst>
              <a:ext uri="{FF2B5EF4-FFF2-40B4-BE49-F238E27FC236}">
                <a16:creationId xmlns:a16="http://schemas.microsoft.com/office/drawing/2014/main" id="{1BF3FB95-6A1C-593C-A76E-9569743CF582}"/>
              </a:ext>
            </a:extLst>
          </p:cNvPr>
          <p:cNvGrpSpPr/>
          <p:nvPr/>
        </p:nvGrpSpPr>
        <p:grpSpPr>
          <a:xfrm>
            <a:off x="9002924" y="3508318"/>
            <a:ext cx="888703" cy="614542"/>
            <a:chOff x="4427730" y="1086611"/>
            <a:chExt cx="1250882" cy="227952"/>
          </a:xfrm>
        </p:grpSpPr>
        <p:sp>
          <p:nvSpPr>
            <p:cNvPr id="305" name="object 20">
              <a:extLst>
                <a:ext uri="{FF2B5EF4-FFF2-40B4-BE49-F238E27FC236}">
                  <a16:creationId xmlns:a16="http://schemas.microsoft.com/office/drawing/2014/main" id="{CA977A96-2C4F-2E39-6DCD-4F2949D29774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HR Coordinator</a:t>
              </a:r>
            </a:p>
            <a:p>
              <a:pPr algn="ctr"/>
              <a:r>
                <a:rPr lang="en-US" sz="950" dirty="0"/>
                <a:t>Lisa/Simo</a:t>
              </a:r>
            </a:p>
          </p:txBody>
        </p:sp>
        <p:sp>
          <p:nvSpPr>
            <p:cNvPr id="306" name="object 21">
              <a:extLst>
                <a:ext uri="{FF2B5EF4-FFF2-40B4-BE49-F238E27FC236}">
                  <a16:creationId xmlns:a16="http://schemas.microsoft.com/office/drawing/2014/main" id="{3B878962-3600-5E79-42F1-6C564C8846C5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07" name="object 18">
            <a:extLst>
              <a:ext uri="{FF2B5EF4-FFF2-40B4-BE49-F238E27FC236}">
                <a16:creationId xmlns:a16="http://schemas.microsoft.com/office/drawing/2014/main" id="{B9DCC26A-B296-9277-FB91-04F13F22C812}"/>
              </a:ext>
            </a:extLst>
          </p:cNvPr>
          <p:cNvGrpSpPr/>
          <p:nvPr/>
        </p:nvGrpSpPr>
        <p:grpSpPr>
          <a:xfrm>
            <a:off x="7156588" y="4969666"/>
            <a:ext cx="888703" cy="461320"/>
            <a:chOff x="4427730" y="1086611"/>
            <a:chExt cx="1250882" cy="227952"/>
          </a:xfrm>
        </p:grpSpPr>
        <p:sp>
          <p:nvSpPr>
            <p:cNvPr id="308" name="object 20">
              <a:extLst>
                <a:ext uri="{FF2B5EF4-FFF2-40B4-BE49-F238E27FC236}">
                  <a16:creationId xmlns:a16="http://schemas.microsoft.com/office/drawing/2014/main" id="{2228AD96-E0F8-C69E-9B11-2407BF3BC56C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Project 1,2,.. Pointe Focal</a:t>
              </a:r>
            </a:p>
            <a:p>
              <a:pPr algn="ctr"/>
              <a:r>
                <a:rPr lang="en-US" sz="950" dirty="0"/>
                <a:t>1,2,…,n</a:t>
              </a:r>
            </a:p>
          </p:txBody>
        </p:sp>
        <p:sp>
          <p:nvSpPr>
            <p:cNvPr id="309" name="object 21">
              <a:extLst>
                <a:ext uri="{FF2B5EF4-FFF2-40B4-BE49-F238E27FC236}">
                  <a16:creationId xmlns:a16="http://schemas.microsoft.com/office/drawing/2014/main" id="{409484C4-EDCC-2171-E0AA-499B4AA1BFE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10" name="object 18">
            <a:extLst>
              <a:ext uri="{FF2B5EF4-FFF2-40B4-BE49-F238E27FC236}">
                <a16:creationId xmlns:a16="http://schemas.microsoft.com/office/drawing/2014/main" id="{67B53EFE-B5B6-3CF1-F92C-BA785D510BF9}"/>
              </a:ext>
            </a:extLst>
          </p:cNvPr>
          <p:cNvGrpSpPr/>
          <p:nvPr/>
        </p:nvGrpSpPr>
        <p:grpSpPr>
          <a:xfrm>
            <a:off x="10044400" y="3520636"/>
            <a:ext cx="888703" cy="614542"/>
            <a:chOff x="4427730" y="1086611"/>
            <a:chExt cx="1250882" cy="227952"/>
          </a:xfrm>
        </p:grpSpPr>
        <p:sp>
          <p:nvSpPr>
            <p:cNvPr id="311" name="object 20">
              <a:extLst>
                <a:ext uri="{FF2B5EF4-FFF2-40B4-BE49-F238E27FC236}">
                  <a16:creationId xmlns:a16="http://schemas.microsoft.com/office/drawing/2014/main" id="{A720B4A6-9188-7C3C-F4A4-6BBE2138CA97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QHSE Coordinator</a:t>
              </a:r>
            </a:p>
            <a:p>
              <a:pPr algn="ctr"/>
              <a:r>
                <a:rPr lang="en-US" sz="950" dirty="0"/>
                <a:t>1,2,…,n</a:t>
              </a:r>
            </a:p>
          </p:txBody>
        </p:sp>
        <p:sp>
          <p:nvSpPr>
            <p:cNvPr id="312" name="object 21">
              <a:extLst>
                <a:ext uri="{FF2B5EF4-FFF2-40B4-BE49-F238E27FC236}">
                  <a16:creationId xmlns:a16="http://schemas.microsoft.com/office/drawing/2014/main" id="{A808BAF3-F804-82D1-20C5-6F9DD8DF52B2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13" name="object 18">
            <a:extLst>
              <a:ext uri="{FF2B5EF4-FFF2-40B4-BE49-F238E27FC236}">
                <a16:creationId xmlns:a16="http://schemas.microsoft.com/office/drawing/2014/main" id="{2AEC3935-494C-D672-084B-E22F4A939608}"/>
              </a:ext>
            </a:extLst>
          </p:cNvPr>
          <p:cNvGrpSpPr/>
          <p:nvPr/>
        </p:nvGrpSpPr>
        <p:grpSpPr>
          <a:xfrm>
            <a:off x="11067883" y="3522384"/>
            <a:ext cx="888703" cy="614542"/>
            <a:chOff x="4427730" y="1086611"/>
            <a:chExt cx="1250882" cy="227952"/>
          </a:xfrm>
        </p:grpSpPr>
        <p:sp>
          <p:nvSpPr>
            <p:cNvPr id="314" name="object 20">
              <a:extLst>
                <a:ext uri="{FF2B5EF4-FFF2-40B4-BE49-F238E27FC236}">
                  <a16:creationId xmlns:a16="http://schemas.microsoft.com/office/drawing/2014/main" id="{5CF7A433-E46B-F1C6-0FAD-5D76DA522A38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Corporate &amp; Social Affairs</a:t>
              </a:r>
            </a:p>
            <a:p>
              <a:pPr algn="ctr"/>
              <a:r>
                <a:rPr lang="en-US" sz="950" dirty="0"/>
                <a:t>Sam</a:t>
              </a:r>
            </a:p>
          </p:txBody>
        </p:sp>
        <p:sp>
          <p:nvSpPr>
            <p:cNvPr id="315" name="object 21">
              <a:extLst>
                <a:ext uri="{FF2B5EF4-FFF2-40B4-BE49-F238E27FC236}">
                  <a16:creationId xmlns:a16="http://schemas.microsoft.com/office/drawing/2014/main" id="{9166CAFF-33E6-E272-CE55-6DA78960E83C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16" name="object 18">
            <a:extLst>
              <a:ext uri="{FF2B5EF4-FFF2-40B4-BE49-F238E27FC236}">
                <a16:creationId xmlns:a16="http://schemas.microsoft.com/office/drawing/2014/main" id="{A206C09B-2F36-2B50-FCD2-7EE3CA328834}"/>
              </a:ext>
            </a:extLst>
          </p:cNvPr>
          <p:cNvGrpSpPr/>
          <p:nvPr/>
        </p:nvGrpSpPr>
        <p:grpSpPr>
          <a:xfrm>
            <a:off x="7950101" y="4294352"/>
            <a:ext cx="888703" cy="461320"/>
            <a:chOff x="4427730" y="1086611"/>
            <a:chExt cx="1250882" cy="227952"/>
          </a:xfrm>
        </p:grpSpPr>
        <p:sp>
          <p:nvSpPr>
            <p:cNvPr id="317" name="object 20">
              <a:extLst>
                <a:ext uri="{FF2B5EF4-FFF2-40B4-BE49-F238E27FC236}">
                  <a16:creationId xmlns:a16="http://schemas.microsoft.com/office/drawing/2014/main" id="{17657471-94E5-698E-0DB6-1D5D591A2DA4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Transit</a:t>
              </a:r>
            </a:p>
            <a:p>
              <a:pPr algn="ctr"/>
              <a:r>
                <a:rPr lang="en-US" sz="950" dirty="0"/>
                <a:t>Drivers</a:t>
              </a:r>
            </a:p>
            <a:p>
              <a:pPr algn="ctr"/>
              <a:r>
                <a:rPr lang="en-US" sz="950" dirty="0"/>
                <a:t>Stock keeper</a:t>
              </a:r>
            </a:p>
          </p:txBody>
        </p:sp>
        <p:sp>
          <p:nvSpPr>
            <p:cNvPr id="318" name="object 21">
              <a:extLst>
                <a:ext uri="{FF2B5EF4-FFF2-40B4-BE49-F238E27FC236}">
                  <a16:creationId xmlns:a16="http://schemas.microsoft.com/office/drawing/2014/main" id="{1F2A8AB9-FFB4-5DFA-6A24-618F320D4884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19" name="object 18">
            <a:extLst>
              <a:ext uri="{FF2B5EF4-FFF2-40B4-BE49-F238E27FC236}">
                <a16:creationId xmlns:a16="http://schemas.microsoft.com/office/drawing/2014/main" id="{48D81760-D403-E59D-C5D1-D65CEBC22E93}"/>
              </a:ext>
            </a:extLst>
          </p:cNvPr>
          <p:cNvGrpSpPr/>
          <p:nvPr/>
        </p:nvGrpSpPr>
        <p:grpSpPr>
          <a:xfrm>
            <a:off x="6267886" y="4284247"/>
            <a:ext cx="888703" cy="465391"/>
            <a:chOff x="4427730" y="1086611"/>
            <a:chExt cx="1250882" cy="227952"/>
          </a:xfrm>
        </p:grpSpPr>
        <p:sp>
          <p:nvSpPr>
            <p:cNvPr id="320" name="object 20">
              <a:extLst>
                <a:ext uri="{FF2B5EF4-FFF2-40B4-BE49-F238E27FC236}">
                  <a16:creationId xmlns:a16="http://schemas.microsoft.com/office/drawing/2014/main" id="{20DE5230-6866-8819-3B3A-8E096DB8BA9B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Ass. </a:t>
              </a:r>
              <a:r>
                <a:rPr lang="en-US" sz="950" dirty="0" err="1"/>
                <a:t>Achats</a:t>
              </a:r>
              <a:endParaRPr lang="en-US" sz="950" dirty="0"/>
            </a:p>
            <a:p>
              <a:pPr algn="ctr"/>
              <a:endParaRPr lang="en-US" sz="950" dirty="0"/>
            </a:p>
          </p:txBody>
        </p:sp>
        <p:sp>
          <p:nvSpPr>
            <p:cNvPr id="321" name="object 21">
              <a:extLst>
                <a:ext uri="{FF2B5EF4-FFF2-40B4-BE49-F238E27FC236}">
                  <a16:creationId xmlns:a16="http://schemas.microsoft.com/office/drawing/2014/main" id="{D7D9853A-99DB-82C4-7FC8-0FB96382382F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22" name="object 18">
            <a:extLst>
              <a:ext uri="{FF2B5EF4-FFF2-40B4-BE49-F238E27FC236}">
                <a16:creationId xmlns:a16="http://schemas.microsoft.com/office/drawing/2014/main" id="{F24198DF-521F-53CA-3F88-12B9B39F3921}"/>
              </a:ext>
            </a:extLst>
          </p:cNvPr>
          <p:cNvGrpSpPr/>
          <p:nvPr/>
        </p:nvGrpSpPr>
        <p:grpSpPr>
          <a:xfrm>
            <a:off x="4892818" y="4295545"/>
            <a:ext cx="1210948" cy="465391"/>
            <a:chOff x="4427730" y="1086611"/>
            <a:chExt cx="1250882" cy="227952"/>
          </a:xfrm>
        </p:grpSpPr>
        <p:sp>
          <p:nvSpPr>
            <p:cNvPr id="323" name="object 20">
              <a:extLst>
                <a:ext uri="{FF2B5EF4-FFF2-40B4-BE49-F238E27FC236}">
                  <a16:creationId xmlns:a16="http://schemas.microsoft.com/office/drawing/2014/main" id="{63072FE2-1C51-58C9-6DBB-2AA7DFA9281C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Cabinet le </a:t>
              </a:r>
              <a:r>
                <a:rPr lang="en-US" sz="950" dirty="0" err="1"/>
                <a:t>Mitoaurd</a:t>
              </a:r>
              <a:endParaRPr lang="en-US" sz="950" dirty="0"/>
            </a:p>
            <a:p>
              <a:pPr algn="ctr"/>
              <a:r>
                <a:rPr lang="en-US" sz="950" dirty="0" err="1"/>
                <a:t>Ecritures</a:t>
              </a:r>
              <a:r>
                <a:rPr lang="en-US" sz="950" dirty="0"/>
                <a:t> </a:t>
              </a:r>
              <a:r>
                <a:rPr lang="en-US" sz="950" dirty="0" err="1"/>
                <a:t>comptables</a:t>
              </a:r>
              <a:endParaRPr lang="en-US" sz="950" dirty="0"/>
            </a:p>
            <a:p>
              <a:pPr algn="ctr"/>
              <a:r>
                <a:rPr lang="en-US" sz="950" dirty="0"/>
                <a:t>Control d Gestion</a:t>
              </a:r>
            </a:p>
            <a:p>
              <a:pPr algn="ctr"/>
              <a:endParaRPr lang="en-US" sz="950" dirty="0"/>
            </a:p>
          </p:txBody>
        </p:sp>
        <p:sp>
          <p:nvSpPr>
            <p:cNvPr id="324" name="object 21">
              <a:extLst>
                <a:ext uri="{FF2B5EF4-FFF2-40B4-BE49-F238E27FC236}">
                  <a16:creationId xmlns:a16="http://schemas.microsoft.com/office/drawing/2014/main" id="{7E678508-C2D4-0343-5747-BCD62A595863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25" name="object 18">
            <a:extLst>
              <a:ext uri="{FF2B5EF4-FFF2-40B4-BE49-F238E27FC236}">
                <a16:creationId xmlns:a16="http://schemas.microsoft.com/office/drawing/2014/main" id="{3072884B-3B4F-7443-A5DB-C2593D13B63C}"/>
              </a:ext>
            </a:extLst>
          </p:cNvPr>
          <p:cNvGrpSpPr/>
          <p:nvPr/>
        </p:nvGrpSpPr>
        <p:grpSpPr>
          <a:xfrm>
            <a:off x="9002924" y="4294352"/>
            <a:ext cx="888703" cy="461320"/>
            <a:chOff x="4427730" y="1086611"/>
            <a:chExt cx="1250882" cy="227952"/>
          </a:xfrm>
        </p:grpSpPr>
        <p:sp>
          <p:nvSpPr>
            <p:cNvPr id="326" name="object 20">
              <a:extLst>
                <a:ext uri="{FF2B5EF4-FFF2-40B4-BE49-F238E27FC236}">
                  <a16:creationId xmlns:a16="http://schemas.microsoft.com/office/drawing/2014/main" id="{61160F8C-1E93-240E-8257-13E0A29C5EF6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HR Assts</a:t>
              </a:r>
            </a:p>
          </p:txBody>
        </p:sp>
        <p:sp>
          <p:nvSpPr>
            <p:cNvPr id="327" name="object 21">
              <a:extLst>
                <a:ext uri="{FF2B5EF4-FFF2-40B4-BE49-F238E27FC236}">
                  <a16:creationId xmlns:a16="http://schemas.microsoft.com/office/drawing/2014/main" id="{DC6DF4EC-B907-BCC2-E63F-539BEC1A49E9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28" name="object 18">
            <a:extLst>
              <a:ext uri="{FF2B5EF4-FFF2-40B4-BE49-F238E27FC236}">
                <a16:creationId xmlns:a16="http://schemas.microsoft.com/office/drawing/2014/main" id="{A2BEFD29-6810-CEB8-F2A5-AA78CBBA4298}"/>
              </a:ext>
            </a:extLst>
          </p:cNvPr>
          <p:cNvGrpSpPr/>
          <p:nvPr/>
        </p:nvGrpSpPr>
        <p:grpSpPr>
          <a:xfrm>
            <a:off x="10044399" y="5028938"/>
            <a:ext cx="888703" cy="461320"/>
            <a:chOff x="4427730" y="1086611"/>
            <a:chExt cx="1250882" cy="227952"/>
          </a:xfrm>
        </p:grpSpPr>
        <p:sp>
          <p:nvSpPr>
            <p:cNvPr id="329" name="object 20">
              <a:extLst>
                <a:ext uri="{FF2B5EF4-FFF2-40B4-BE49-F238E27FC236}">
                  <a16:creationId xmlns:a16="http://schemas.microsoft.com/office/drawing/2014/main" id="{FADAB549-AEC3-39DC-3706-0CA7FA147ACB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Site HSE</a:t>
              </a:r>
            </a:p>
            <a:p>
              <a:pPr algn="ctr"/>
              <a:r>
                <a:rPr lang="en-US" sz="950" dirty="0"/>
                <a:t>1,2,…,n</a:t>
              </a:r>
            </a:p>
          </p:txBody>
        </p:sp>
        <p:sp>
          <p:nvSpPr>
            <p:cNvPr id="330" name="object 21">
              <a:extLst>
                <a:ext uri="{FF2B5EF4-FFF2-40B4-BE49-F238E27FC236}">
                  <a16:creationId xmlns:a16="http://schemas.microsoft.com/office/drawing/2014/main" id="{FBABB567-CC87-F390-537F-73C0685A1C7A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34" name="object 18">
            <a:extLst>
              <a:ext uri="{FF2B5EF4-FFF2-40B4-BE49-F238E27FC236}">
                <a16:creationId xmlns:a16="http://schemas.microsoft.com/office/drawing/2014/main" id="{0C61629A-084F-4405-9682-8DA61CD22054}"/>
              </a:ext>
            </a:extLst>
          </p:cNvPr>
          <p:cNvGrpSpPr/>
          <p:nvPr/>
        </p:nvGrpSpPr>
        <p:grpSpPr>
          <a:xfrm>
            <a:off x="6103767" y="5926873"/>
            <a:ext cx="888704" cy="461322"/>
            <a:chOff x="4427729" y="1086610"/>
            <a:chExt cx="1250883" cy="227953"/>
          </a:xfrm>
        </p:grpSpPr>
        <p:sp>
          <p:nvSpPr>
            <p:cNvPr id="335" name="object 20">
              <a:extLst>
                <a:ext uri="{FF2B5EF4-FFF2-40B4-BE49-F238E27FC236}">
                  <a16:creationId xmlns:a16="http://schemas.microsoft.com/office/drawing/2014/main" id="{7477EA30-3681-B37D-2525-575BFCACAA11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Store Keeper</a:t>
              </a:r>
            </a:p>
            <a:p>
              <a:pPr algn="ctr"/>
              <a:r>
                <a:rPr lang="en-US" sz="950" dirty="0"/>
                <a:t>Drivers</a:t>
              </a:r>
            </a:p>
          </p:txBody>
        </p:sp>
        <p:sp>
          <p:nvSpPr>
            <p:cNvPr id="336" name="object 21">
              <a:extLst>
                <a:ext uri="{FF2B5EF4-FFF2-40B4-BE49-F238E27FC236}">
                  <a16:creationId xmlns:a16="http://schemas.microsoft.com/office/drawing/2014/main" id="{61CEE9DA-65B8-90D5-7D58-F85D951A1E1E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37" name="object 18">
            <a:extLst>
              <a:ext uri="{FF2B5EF4-FFF2-40B4-BE49-F238E27FC236}">
                <a16:creationId xmlns:a16="http://schemas.microsoft.com/office/drawing/2014/main" id="{2C930D4F-0AEA-FD6B-79E8-56D44C16A27B}"/>
              </a:ext>
            </a:extLst>
          </p:cNvPr>
          <p:cNvGrpSpPr/>
          <p:nvPr/>
        </p:nvGrpSpPr>
        <p:grpSpPr>
          <a:xfrm>
            <a:off x="8067266" y="5926873"/>
            <a:ext cx="888704" cy="461322"/>
            <a:chOff x="4427729" y="1086610"/>
            <a:chExt cx="1250883" cy="227953"/>
          </a:xfrm>
        </p:grpSpPr>
        <p:sp>
          <p:nvSpPr>
            <p:cNvPr id="338" name="object 20">
              <a:extLst>
                <a:ext uri="{FF2B5EF4-FFF2-40B4-BE49-F238E27FC236}">
                  <a16:creationId xmlns:a16="http://schemas.microsoft.com/office/drawing/2014/main" id="{1D67745E-2A63-83ED-E7D7-9B850FD62F36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dirty="0"/>
                <a:t>Camp boss</a:t>
              </a:r>
            </a:p>
            <a:p>
              <a:pPr algn="ctr"/>
              <a:r>
                <a:rPr lang="en-US" sz="950" dirty="0"/>
                <a:t>Catering Crew</a:t>
              </a:r>
            </a:p>
          </p:txBody>
        </p:sp>
        <p:sp>
          <p:nvSpPr>
            <p:cNvPr id="339" name="object 21">
              <a:extLst>
                <a:ext uri="{FF2B5EF4-FFF2-40B4-BE49-F238E27FC236}">
                  <a16:creationId xmlns:a16="http://schemas.microsoft.com/office/drawing/2014/main" id="{D01A8207-E9A9-7680-5F61-722FE08525F9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340" name="Connector: Elbow 339">
            <a:extLst>
              <a:ext uri="{FF2B5EF4-FFF2-40B4-BE49-F238E27FC236}">
                <a16:creationId xmlns:a16="http://schemas.microsoft.com/office/drawing/2014/main" id="{2735CDFC-DBA5-2A16-10D5-77D8609DB108}"/>
              </a:ext>
            </a:extLst>
          </p:cNvPr>
          <p:cNvCxnSpPr>
            <a:cxnSpLocks/>
          </p:cNvCxnSpPr>
          <p:nvPr/>
        </p:nvCxnSpPr>
        <p:spPr>
          <a:xfrm>
            <a:off x="8433108" y="3346409"/>
            <a:ext cx="3079127" cy="171498"/>
          </a:xfrm>
          <a:prstGeom prst="bentConnector3">
            <a:avLst>
              <a:gd name="adj1" fmla="val 9990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: Elbow 347">
            <a:extLst>
              <a:ext uri="{FF2B5EF4-FFF2-40B4-BE49-F238E27FC236}">
                <a16:creationId xmlns:a16="http://schemas.microsoft.com/office/drawing/2014/main" id="{1D717174-147D-EDBC-1AF6-EC2829E3A3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98292" y="3346403"/>
            <a:ext cx="2934816" cy="158743"/>
          </a:xfrm>
          <a:prstGeom prst="bentConnector3">
            <a:avLst>
              <a:gd name="adj1" fmla="val 99874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C49DC550-6369-1081-939A-1E6F2A6F806E}"/>
              </a:ext>
            </a:extLst>
          </p:cNvPr>
          <p:cNvCxnSpPr>
            <a:cxnSpLocks/>
          </p:cNvCxnSpPr>
          <p:nvPr/>
        </p:nvCxnSpPr>
        <p:spPr>
          <a:xfrm flipH="1">
            <a:off x="6706146" y="3346402"/>
            <a:ext cx="6090" cy="165433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A83D6E7A-536E-8AF3-1177-C80278EA7740}"/>
              </a:ext>
            </a:extLst>
          </p:cNvPr>
          <p:cNvCxnSpPr>
            <a:cxnSpLocks/>
          </p:cNvCxnSpPr>
          <p:nvPr/>
        </p:nvCxnSpPr>
        <p:spPr>
          <a:xfrm>
            <a:off x="9451547" y="3339102"/>
            <a:ext cx="0" cy="18153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35498C83-3A8A-8270-C341-FDA2DCCBF697}"/>
              </a:ext>
            </a:extLst>
          </p:cNvPr>
          <p:cNvCxnSpPr>
            <a:cxnSpLocks/>
          </p:cNvCxnSpPr>
          <p:nvPr/>
        </p:nvCxnSpPr>
        <p:spPr>
          <a:xfrm>
            <a:off x="10514789" y="3350762"/>
            <a:ext cx="0" cy="18153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1544129B-61C7-9900-3F71-D96792A3908F}"/>
              </a:ext>
            </a:extLst>
          </p:cNvPr>
          <p:cNvCxnSpPr>
            <a:cxnSpLocks/>
          </p:cNvCxnSpPr>
          <p:nvPr/>
        </p:nvCxnSpPr>
        <p:spPr>
          <a:xfrm>
            <a:off x="8394452" y="4122860"/>
            <a:ext cx="0" cy="18153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C497CEE6-66A5-5C03-7D5C-FBB401D4F499}"/>
              </a:ext>
            </a:extLst>
          </p:cNvPr>
          <p:cNvCxnSpPr>
            <a:cxnSpLocks/>
          </p:cNvCxnSpPr>
          <p:nvPr/>
        </p:nvCxnSpPr>
        <p:spPr>
          <a:xfrm>
            <a:off x="9475484" y="4122860"/>
            <a:ext cx="0" cy="18153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139DE28B-5827-50DA-2EAE-E68A35B206CF}"/>
              </a:ext>
            </a:extLst>
          </p:cNvPr>
          <p:cNvCxnSpPr>
            <a:cxnSpLocks/>
          </p:cNvCxnSpPr>
          <p:nvPr/>
        </p:nvCxnSpPr>
        <p:spPr>
          <a:xfrm>
            <a:off x="6701627" y="4112818"/>
            <a:ext cx="0" cy="18153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46C0964D-9D30-FC00-E6D4-F52EAFE83ABD}"/>
              </a:ext>
            </a:extLst>
          </p:cNvPr>
          <p:cNvCxnSpPr>
            <a:cxnSpLocks/>
          </p:cNvCxnSpPr>
          <p:nvPr/>
        </p:nvCxnSpPr>
        <p:spPr>
          <a:xfrm>
            <a:off x="5511563" y="3967886"/>
            <a:ext cx="0" cy="326466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72B5863E-3F85-D97D-AD11-7DA23087CA4B}"/>
              </a:ext>
            </a:extLst>
          </p:cNvPr>
          <p:cNvCxnSpPr>
            <a:cxnSpLocks/>
          </p:cNvCxnSpPr>
          <p:nvPr/>
        </p:nvCxnSpPr>
        <p:spPr>
          <a:xfrm flipH="1">
            <a:off x="7600955" y="2497164"/>
            <a:ext cx="9377" cy="2472502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: Elbow 372">
            <a:extLst>
              <a:ext uri="{FF2B5EF4-FFF2-40B4-BE49-F238E27FC236}">
                <a16:creationId xmlns:a16="http://schemas.microsoft.com/office/drawing/2014/main" id="{9C2FE4FF-DB68-B98F-0564-A7A111FE1A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48121" y="5722230"/>
            <a:ext cx="1052819" cy="210297"/>
          </a:xfrm>
          <a:prstGeom prst="bentConnector3">
            <a:avLst>
              <a:gd name="adj1" fmla="val 100354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Elbow 377">
            <a:extLst>
              <a:ext uri="{FF2B5EF4-FFF2-40B4-BE49-F238E27FC236}">
                <a16:creationId xmlns:a16="http://schemas.microsoft.com/office/drawing/2014/main" id="{56A1E4A8-EB6E-2573-B462-520FCDE936B1}"/>
              </a:ext>
            </a:extLst>
          </p:cNvPr>
          <p:cNvCxnSpPr>
            <a:cxnSpLocks/>
          </p:cNvCxnSpPr>
          <p:nvPr/>
        </p:nvCxnSpPr>
        <p:spPr>
          <a:xfrm>
            <a:off x="7587254" y="5721082"/>
            <a:ext cx="924363" cy="187967"/>
          </a:xfrm>
          <a:prstGeom prst="bentConnector3">
            <a:avLst>
              <a:gd name="adj1" fmla="val 100423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65F40C61-9533-104C-7085-529399CD9142}"/>
              </a:ext>
            </a:extLst>
          </p:cNvPr>
          <p:cNvCxnSpPr>
            <a:cxnSpLocks/>
          </p:cNvCxnSpPr>
          <p:nvPr/>
        </p:nvCxnSpPr>
        <p:spPr>
          <a:xfrm>
            <a:off x="7600939" y="5430986"/>
            <a:ext cx="0" cy="290096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70A291D0-49D5-638D-A069-A0756E4E5A93}"/>
              </a:ext>
            </a:extLst>
          </p:cNvPr>
          <p:cNvCxnSpPr>
            <a:cxnSpLocks/>
          </p:cNvCxnSpPr>
          <p:nvPr/>
        </p:nvCxnSpPr>
        <p:spPr>
          <a:xfrm flipH="1">
            <a:off x="10484340" y="4131119"/>
            <a:ext cx="4410" cy="897819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: Elbow 388">
            <a:extLst>
              <a:ext uri="{FF2B5EF4-FFF2-40B4-BE49-F238E27FC236}">
                <a16:creationId xmlns:a16="http://schemas.microsoft.com/office/drawing/2014/main" id="{84C93CE8-4871-E138-121B-1CD558011F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35568" y="4264894"/>
            <a:ext cx="1099763" cy="289518"/>
          </a:xfrm>
          <a:prstGeom prst="bentConnector3">
            <a:avLst>
              <a:gd name="adj1" fmla="val -709"/>
            </a:avLst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E7FF6D4C-D154-B0D3-E60B-706EF7682C0B}"/>
              </a:ext>
            </a:extLst>
          </p:cNvPr>
          <p:cNvCxnSpPr/>
          <p:nvPr/>
        </p:nvCxnSpPr>
        <p:spPr>
          <a:xfrm>
            <a:off x="5960838" y="3739860"/>
            <a:ext cx="324647" cy="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3BF3F54A-C134-DEC7-DA7B-B0DC861F4C58}"/>
              </a:ext>
            </a:extLst>
          </p:cNvPr>
          <p:cNvCxnSpPr>
            <a:cxnSpLocks/>
          </p:cNvCxnSpPr>
          <p:nvPr/>
        </p:nvCxnSpPr>
        <p:spPr>
          <a:xfrm>
            <a:off x="7128298" y="3742083"/>
            <a:ext cx="821803" cy="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E470DD83-E555-098E-F6D3-08D75AF2C408}"/>
              </a:ext>
            </a:extLst>
          </p:cNvPr>
          <p:cNvCxnSpPr>
            <a:cxnSpLocks/>
          </p:cNvCxnSpPr>
          <p:nvPr/>
        </p:nvCxnSpPr>
        <p:spPr>
          <a:xfrm flipV="1">
            <a:off x="7147612" y="3413890"/>
            <a:ext cx="2307120" cy="176920"/>
          </a:xfrm>
          <a:prstGeom prst="bentConnector3">
            <a:avLst>
              <a:gd name="adj1" fmla="val 28684"/>
            </a:avLst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7" name="object 18">
            <a:extLst>
              <a:ext uri="{FF2B5EF4-FFF2-40B4-BE49-F238E27FC236}">
                <a16:creationId xmlns:a16="http://schemas.microsoft.com/office/drawing/2014/main" id="{2273BB16-F88F-3ED2-83C8-618270F8D270}"/>
              </a:ext>
            </a:extLst>
          </p:cNvPr>
          <p:cNvGrpSpPr/>
          <p:nvPr/>
        </p:nvGrpSpPr>
        <p:grpSpPr>
          <a:xfrm>
            <a:off x="1164024" y="2894276"/>
            <a:ext cx="888703" cy="331226"/>
            <a:chOff x="4427730" y="1086611"/>
            <a:chExt cx="1250882" cy="227952"/>
          </a:xfrm>
        </p:grpSpPr>
        <p:sp>
          <p:nvSpPr>
            <p:cNvPr id="408" name="object 20">
              <a:extLst>
                <a:ext uri="{FF2B5EF4-FFF2-40B4-BE49-F238E27FC236}">
                  <a16:creationId xmlns:a16="http://schemas.microsoft.com/office/drawing/2014/main" id="{BADF80BB-4CC7-B607-2058-C403887F8528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Finance &amp; Administration</a:t>
              </a:r>
            </a:p>
          </p:txBody>
        </p:sp>
        <p:sp>
          <p:nvSpPr>
            <p:cNvPr id="409" name="object 21">
              <a:extLst>
                <a:ext uri="{FF2B5EF4-FFF2-40B4-BE49-F238E27FC236}">
                  <a16:creationId xmlns:a16="http://schemas.microsoft.com/office/drawing/2014/main" id="{9A74B1F9-2B32-673E-50DE-D9B5638D3157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410" name="object 18">
            <a:extLst>
              <a:ext uri="{FF2B5EF4-FFF2-40B4-BE49-F238E27FC236}">
                <a16:creationId xmlns:a16="http://schemas.microsoft.com/office/drawing/2014/main" id="{523395F7-0683-85C6-098A-C5A7C2D80FD4}"/>
              </a:ext>
            </a:extLst>
          </p:cNvPr>
          <p:cNvGrpSpPr/>
          <p:nvPr/>
        </p:nvGrpSpPr>
        <p:grpSpPr>
          <a:xfrm>
            <a:off x="4233732" y="2902766"/>
            <a:ext cx="888703" cy="331227"/>
            <a:chOff x="4427730" y="1086611"/>
            <a:chExt cx="1250882" cy="227952"/>
          </a:xfrm>
        </p:grpSpPr>
        <p:sp>
          <p:nvSpPr>
            <p:cNvPr id="411" name="object 20">
              <a:extLst>
                <a:ext uri="{FF2B5EF4-FFF2-40B4-BE49-F238E27FC236}">
                  <a16:creationId xmlns:a16="http://schemas.microsoft.com/office/drawing/2014/main" id="{100F8462-5405-96D0-BBB8-EB634AF4DD8C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Supply Chain</a:t>
              </a:r>
            </a:p>
          </p:txBody>
        </p:sp>
        <p:sp>
          <p:nvSpPr>
            <p:cNvPr id="412" name="object 21">
              <a:extLst>
                <a:ext uri="{FF2B5EF4-FFF2-40B4-BE49-F238E27FC236}">
                  <a16:creationId xmlns:a16="http://schemas.microsoft.com/office/drawing/2014/main" id="{4FC83ED5-1402-380B-7047-E2826027D2FC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413" name="object 18">
            <a:extLst>
              <a:ext uri="{FF2B5EF4-FFF2-40B4-BE49-F238E27FC236}">
                <a16:creationId xmlns:a16="http://schemas.microsoft.com/office/drawing/2014/main" id="{6FA09D99-07F3-3AFB-A725-BDF5C9DB3956}"/>
              </a:ext>
            </a:extLst>
          </p:cNvPr>
          <p:cNvGrpSpPr/>
          <p:nvPr/>
        </p:nvGrpSpPr>
        <p:grpSpPr>
          <a:xfrm>
            <a:off x="2187260" y="2886568"/>
            <a:ext cx="888703" cy="330300"/>
            <a:chOff x="4427730" y="1086611"/>
            <a:chExt cx="1250882" cy="227952"/>
          </a:xfrm>
        </p:grpSpPr>
        <p:sp>
          <p:nvSpPr>
            <p:cNvPr id="414" name="object 20">
              <a:extLst>
                <a:ext uri="{FF2B5EF4-FFF2-40B4-BE49-F238E27FC236}">
                  <a16:creationId xmlns:a16="http://schemas.microsoft.com/office/drawing/2014/main" id="{E453375C-E916-549F-0335-80944708CEAD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Bookkeeping</a:t>
              </a:r>
            </a:p>
            <a:p>
              <a:pPr algn="ctr"/>
              <a:r>
                <a:rPr lang="en-US" sz="950" dirty="0" err="1"/>
                <a:t>Smail</a:t>
              </a:r>
              <a:endParaRPr lang="en-US" sz="950" dirty="0"/>
            </a:p>
          </p:txBody>
        </p:sp>
        <p:sp>
          <p:nvSpPr>
            <p:cNvPr id="415" name="object 21">
              <a:extLst>
                <a:ext uri="{FF2B5EF4-FFF2-40B4-BE49-F238E27FC236}">
                  <a16:creationId xmlns:a16="http://schemas.microsoft.com/office/drawing/2014/main" id="{B9EC8944-2321-62EC-AA81-C0B01D53BF54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416" name="object 18">
            <a:extLst>
              <a:ext uri="{FF2B5EF4-FFF2-40B4-BE49-F238E27FC236}">
                <a16:creationId xmlns:a16="http://schemas.microsoft.com/office/drawing/2014/main" id="{3B9EC26A-B7FC-1B62-A9E0-70C61FAC691C}"/>
              </a:ext>
            </a:extLst>
          </p:cNvPr>
          <p:cNvGrpSpPr/>
          <p:nvPr/>
        </p:nvGrpSpPr>
        <p:grpSpPr>
          <a:xfrm>
            <a:off x="3207611" y="2882170"/>
            <a:ext cx="888703" cy="330300"/>
            <a:chOff x="4427730" y="1086611"/>
            <a:chExt cx="1250882" cy="227952"/>
          </a:xfrm>
        </p:grpSpPr>
        <p:sp>
          <p:nvSpPr>
            <p:cNvPr id="417" name="object 20">
              <a:extLst>
                <a:ext uri="{FF2B5EF4-FFF2-40B4-BE49-F238E27FC236}">
                  <a16:creationId xmlns:a16="http://schemas.microsoft.com/office/drawing/2014/main" id="{D3384184-0EAA-2803-FFEC-A266B2227CA4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Bookkeeping</a:t>
              </a:r>
            </a:p>
            <a:p>
              <a:pPr algn="ctr"/>
              <a:r>
                <a:rPr lang="en-US" sz="950" dirty="0" err="1"/>
                <a:t>Smail</a:t>
              </a:r>
              <a:endParaRPr lang="en-US" sz="950" dirty="0"/>
            </a:p>
          </p:txBody>
        </p:sp>
        <p:sp>
          <p:nvSpPr>
            <p:cNvPr id="418" name="object 21">
              <a:extLst>
                <a:ext uri="{FF2B5EF4-FFF2-40B4-BE49-F238E27FC236}">
                  <a16:creationId xmlns:a16="http://schemas.microsoft.com/office/drawing/2014/main" id="{DC04B0A9-C58E-306A-FC37-D1B7154DE080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419" name="Connector: Elbow 418">
            <a:extLst>
              <a:ext uri="{FF2B5EF4-FFF2-40B4-BE49-F238E27FC236}">
                <a16:creationId xmlns:a16="http://schemas.microsoft.com/office/drawing/2014/main" id="{B986BFE6-7A4F-AB83-AE47-C56DAEFC5490}"/>
              </a:ext>
            </a:extLst>
          </p:cNvPr>
          <p:cNvCxnSpPr>
            <a:cxnSpLocks/>
          </p:cNvCxnSpPr>
          <p:nvPr/>
        </p:nvCxnSpPr>
        <p:spPr>
          <a:xfrm>
            <a:off x="5109463" y="3073319"/>
            <a:ext cx="3293967" cy="454462"/>
          </a:xfrm>
          <a:prstGeom prst="bentConnector3">
            <a:avLst>
              <a:gd name="adj1" fmla="val 99830"/>
            </a:avLst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: Elbow 432">
            <a:extLst>
              <a:ext uri="{FF2B5EF4-FFF2-40B4-BE49-F238E27FC236}">
                <a16:creationId xmlns:a16="http://schemas.microsoft.com/office/drawing/2014/main" id="{C6E53652-F9EC-0DB7-C32B-3EE3C031AD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23922" y="2701261"/>
            <a:ext cx="1549156" cy="198659"/>
          </a:xfrm>
          <a:prstGeom prst="bentConnector3">
            <a:avLst>
              <a:gd name="adj1" fmla="val 10038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: Elbow 436">
            <a:extLst>
              <a:ext uri="{FF2B5EF4-FFF2-40B4-BE49-F238E27FC236}">
                <a16:creationId xmlns:a16="http://schemas.microsoft.com/office/drawing/2014/main" id="{928C5FBE-1604-338F-8B04-D2E9C282CF94}"/>
              </a:ext>
            </a:extLst>
          </p:cNvPr>
          <p:cNvCxnSpPr>
            <a:cxnSpLocks/>
          </p:cNvCxnSpPr>
          <p:nvPr/>
        </p:nvCxnSpPr>
        <p:spPr>
          <a:xfrm>
            <a:off x="3059673" y="2700195"/>
            <a:ext cx="1667274" cy="194081"/>
          </a:xfrm>
          <a:prstGeom prst="bentConnector3">
            <a:avLst>
              <a:gd name="adj1" fmla="val 100045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C13B442B-6652-8FF6-16C1-E5D0D50957DA}"/>
              </a:ext>
            </a:extLst>
          </p:cNvPr>
          <p:cNvCxnSpPr>
            <a:cxnSpLocks/>
          </p:cNvCxnSpPr>
          <p:nvPr/>
        </p:nvCxnSpPr>
        <p:spPr>
          <a:xfrm>
            <a:off x="3651962" y="2700194"/>
            <a:ext cx="0" cy="186373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Arrow Connector 443">
            <a:extLst>
              <a:ext uri="{FF2B5EF4-FFF2-40B4-BE49-F238E27FC236}">
                <a16:creationId xmlns:a16="http://schemas.microsoft.com/office/drawing/2014/main" id="{3190E2F6-E3C3-707E-B320-B4D54407D1E9}"/>
              </a:ext>
            </a:extLst>
          </p:cNvPr>
          <p:cNvCxnSpPr>
            <a:cxnSpLocks/>
          </p:cNvCxnSpPr>
          <p:nvPr/>
        </p:nvCxnSpPr>
        <p:spPr>
          <a:xfrm>
            <a:off x="3150090" y="2513821"/>
            <a:ext cx="0" cy="186373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1F65869-F489-0DB6-12A5-8BEFB606C51E}"/>
              </a:ext>
            </a:extLst>
          </p:cNvPr>
          <p:cNvCxnSpPr>
            <a:cxnSpLocks/>
          </p:cNvCxnSpPr>
          <p:nvPr/>
        </p:nvCxnSpPr>
        <p:spPr>
          <a:xfrm flipV="1">
            <a:off x="8817783" y="3720326"/>
            <a:ext cx="229425" cy="2054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9B6A958A-2E23-841B-1E20-C325B2AB21C7}"/>
              </a:ext>
            </a:extLst>
          </p:cNvPr>
          <p:cNvGrpSpPr/>
          <p:nvPr/>
        </p:nvGrpSpPr>
        <p:grpSpPr>
          <a:xfrm>
            <a:off x="10473392" y="1968127"/>
            <a:ext cx="1626837" cy="534611"/>
            <a:chOff x="10175132" y="504612"/>
            <a:chExt cx="1626837" cy="534611"/>
          </a:xfrm>
        </p:grpSpPr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FE988F49-8011-1AC4-8384-89EA35590550}"/>
                </a:ext>
              </a:extLst>
            </p:cNvPr>
            <p:cNvGrpSpPr/>
            <p:nvPr/>
          </p:nvGrpSpPr>
          <p:grpSpPr>
            <a:xfrm>
              <a:off x="10175132" y="504612"/>
              <a:ext cx="1626837" cy="253916"/>
              <a:chOff x="10175132" y="504612"/>
              <a:chExt cx="1626837" cy="253916"/>
            </a:xfrm>
          </p:grpSpPr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id="{0CAB0C77-B5BB-903C-3305-A23BC64FF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5132" y="621971"/>
                <a:ext cx="495349" cy="6052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5978E5C7-F2AA-843C-5D04-212A1AF1E704}"/>
                  </a:ext>
                </a:extLst>
              </p:cNvPr>
              <p:cNvSpPr txBox="1"/>
              <p:nvPr/>
            </p:nvSpPr>
            <p:spPr>
              <a:xfrm>
                <a:off x="10595739" y="504612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Information flow</a:t>
                </a:r>
              </a:p>
            </p:txBody>
          </p:sp>
        </p:grpSp>
        <p:grpSp>
          <p:nvGrpSpPr>
            <p:cNvPr id="448" name="Group 447">
              <a:extLst>
                <a:ext uri="{FF2B5EF4-FFF2-40B4-BE49-F238E27FC236}">
                  <a16:creationId xmlns:a16="http://schemas.microsoft.com/office/drawing/2014/main" id="{FF3B60BC-B1D5-49EA-EF94-CCC134DAB36F}"/>
                </a:ext>
              </a:extLst>
            </p:cNvPr>
            <p:cNvGrpSpPr/>
            <p:nvPr/>
          </p:nvGrpSpPr>
          <p:grpSpPr>
            <a:xfrm>
              <a:off x="10204315" y="785307"/>
              <a:ext cx="1597654" cy="253916"/>
              <a:chOff x="10204315" y="785307"/>
              <a:chExt cx="1597654" cy="253916"/>
            </a:xfrm>
          </p:grpSpPr>
          <p:cxnSp>
            <p:nvCxnSpPr>
              <p:cNvPr id="449" name="Straight Arrow Connector 448">
                <a:extLst>
                  <a:ext uri="{FF2B5EF4-FFF2-40B4-BE49-F238E27FC236}">
                    <a16:creationId xmlns:a16="http://schemas.microsoft.com/office/drawing/2014/main" id="{06999D22-6A1B-71AC-5A08-349F45F98730}"/>
                  </a:ext>
                </a:extLst>
              </p:cNvPr>
              <p:cNvCxnSpPr/>
              <p:nvPr/>
            </p:nvCxnSpPr>
            <p:spPr>
              <a:xfrm>
                <a:off x="10204315" y="912265"/>
                <a:ext cx="467889" cy="0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6140A62B-7932-19EA-5EBD-1A8F8F79D3A8}"/>
                  </a:ext>
                </a:extLst>
              </p:cNvPr>
              <p:cNvSpPr txBox="1"/>
              <p:nvPr/>
            </p:nvSpPr>
            <p:spPr>
              <a:xfrm>
                <a:off x="10595739" y="785307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Authority Flow</a:t>
                </a:r>
              </a:p>
            </p:txBody>
          </p:sp>
        </p:grpSp>
      </p:grp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17379D30-EB7F-B509-DC25-0822758BEE20}"/>
              </a:ext>
            </a:extLst>
          </p:cNvPr>
          <p:cNvCxnSpPr>
            <a:cxnSpLocks/>
          </p:cNvCxnSpPr>
          <p:nvPr/>
        </p:nvCxnSpPr>
        <p:spPr>
          <a:xfrm>
            <a:off x="9872833" y="3745893"/>
            <a:ext cx="179931" cy="800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object 18">
            <a:extLst>
              <a:ext uri="{FF2B5EF4-FFF2-40B4-BE49-F238E27FC236}">
                <a16:creationId xmlns:a16="http://schemas.microsoft.com/office/drawing/2014/main" id="{3CC72101-DE54-7186-5A6A-9EF722ED4453}"/>
              </a:ext>
            </a:extLst>
          </p:cNvPr>
          <p:cNvGrpSpPr/>
          <p:nvPr/>
        </p:nvGrpSpPr>
        <p:grpSpPr>
          <a:xfrm>
            <a:off x="3733806" y="3525951"/>
            <a:ext cx="888703" cy="456051"/>
            <a:chOff x="4427730" y="1086611"/>
            <a:chExt cx="1250882" cy="227952"/>
          </a:xfrm>
        </p:grpSpPr>
        <p:sp>
          <p:nvSpPr>
            <p:cNvPr id="9" name="object 20">
              <a:extLst>
                <a:ext uri="{FF2B5EF4-FFF2-40B4-BE49-F238E27FC236}">
                  <a16:creationId xmlns:a16="http://schemas.microsoft.com/office/drawing/2014/main" id="{CF3AF23F-385C-35D5-F5ED-4C5BE1DADF12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Maintenance Manager</a:t>
              </a:r>
            </a:p>
            <a:p>
              <a:pPr algn="ctr"/>
              <a:r>
                <a:rPr lang="en-US" sz="950" dirty="0"/>
                <a:t>Wael/XX</a:t>
              </a:r>
            </a:p>
          </p:txBody>
        </p:sp>
        <p:sp>
          <p:nvSpPr>
            <p:cNvPr id="10" name="object 21">
              <a:extLst>
                <a:ext uri="{FF2B5EF4-FFF2-40B4-BE49-F238E27FC236}">
                  <a16:creationId xmlns:a16="http://schemas.microsoft.com/office/drawing/2014/main" id="{DA2FF0C3-D7A6-57A7-BDDB-C804FF15270B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30E06E3-95A3-4BCC-8447-B503FD2247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9052" y="3349072"/>
            <a:ext cx="2913599" cy="168620"/>
          </a:xfrm>
          <a:prstGeom prst="bentConnector3">
            <a:avLst>
              <a:gd name="adj1" fmla="val 99993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object 18">
            <a:extLst>
              <a:ext uri="{FF2B5EF4-FFF2-40B4-BE49-F238E27FC236}">
                <a16:creationId xmlns:a16="http://schemas.microsoft.com/office/drawing/2014/main" id="{618C3365-4DF4-4550-9B67-B655E6931F2B}"/>
              </a:ext>
            </a:extLst>
          </p:cNvPr>
          <p:cNvGrpSpPr/>
          <p:nvPr/>
        </p:nvGrpSpPr>
        <p:grpSpPr>
          <a:xfrm>
            <a:off x="3552249" y="4911675"/>
            <a:ext cx="1104824" cy="997374"/>
            <a:chOff x="4427730" y="1086611"/>
            <a:chExt cx="1250882" cy="227952"/>
          </a:xfrm>
        </p:grpSpPr>
        <p:sp>
          <p:nvSpPr>
            <p:cNvPr id="30" name="object 20">
              <a:extLst>
                <a:ext uri="{FF2B5EF4-FFF2-40B4-BE49-F238E27FC236}">
                  <a16:creationId xmlns:a16="http://schemas.microsoft.com/office/drawing/2014/main" id="{067A11AB-265C-D658-B231-623EDFCE4632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Mechanic</a:t>
              </a:r>
              <a:r>
                <a:rPr lang="en-US" sz="1100" dirty="0">
                  <a:solidFill>
                    <a:schemeClr val="bg1"/>
                  </a:solidFill>
                </a:rPr>
                <a:t>s</a:t>
              </a:r>
            </a:p>
            <a:p>
              <a:pPr algn="ctr"/>
              <a:r>
                <a:rPr lang="en-US" sz="1100" dirty="0" err="1">
                  <a:solidFill>
                    <a:schemeClr val="bg1"/>
                  </a:solidFill>
                </a:rPr>
                <a:t>Electriciens</a:t>
              </a:r>
              <a:endParaRPr lang="en-US" sz="11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bg1"/>
                  </a:solidFill>
                </a:rPr>
                <a:t>Electromecs</a:t>
              </a:r>
              <a:endParaRPr lang="en-US" sz="11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Instrumentation technicians</a:t>
              </a:r>
            </a:p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Others</a:t>
              </a:r>
            </a:p>
          </p:txBody>
        </p:sp>
        <p:sp>
          <p:nvSpPr>
            <p:cNvPr id="31" name="object 21">
              <a:extLst>
                <a:ext uri="{FF2B5EF4-FFF2-40B4-BE49-F238E27FC236}">
                  <a16:creationId xmlns:a16="http://schemas.microsoft.com/office/drawing/2014/main" id="{E27FCA58-11BC-1471-B8EB-72C7876A3C4F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A0A2C98A-825E-B4C4-F4C4-9A4E9191EFD2}"/>
              </a:ext>
            </a:extLst>
          </p:cNvPr>
          <p:cNvCxnSpPr>
            <a:cxnSpLocks/>
          </p:cNvCxnSpPr>
          <p:nvPr/>
        </p:nvCxnSpPr>
        <p:spPr>
          <a:xfrm flipH="1">
            <a:off x="4156847" y="4008383"/>
            <a:ext cx="4410" cy="897819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35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405">
            <a:extLst>
              <a:ext uri="{FF2B5EF4-FFF2-40B4-BE49-F238E27FC236}">
                <a16:creationId xmlns:a16="http://schemas.microsoft.com/office/drawing/2014/main" id="{8F55D8AF-B23F-95D0-9726-46FD654611F7}"/>
              </a:ext>
            </a:extLst>
          </p:cNvPr>
          <p:cNvSpPr/>
          <p:nvPr/>
        </p:nvSpPr>
        <p:spPr>
          <a:xfrm>
            <a:off x="313744" y="2534829"/>
            <a:ext cx="11736201" cy="9530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Needs Expression: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4E8210A-FF1A-2285-68D7-EE7351D72153}"/>
              </a:ext>
            </a:extLst>
          </p:cNvPr>
          <p:cNvSpPr/>
          <p:nvPr/>
        </p:nvSpPr>
        <p:spPr>
          <a:xfrm>
            <a:off x="313744" y="3697254"/>
            <a:ext cx="11736201" cy="2283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Department </a:t>
            </a:r>
            <a:r>
              <a:rPr lang="en-US" sz="1000" b="1" dirty="0" err="1">
                <a:solidFill>
                  <a:srgbClr val="C00000"/>
                </a:solidFill>
              </a:rPr>
              <a:t>Organisation</a:t>
            </a:r>
            <a:r>
              <a:rPr lang="en-US" sz="1000" b="1" dirty="0">
                <a:solidFill>
                  <a:srgbClr val="C00000"/>
                </a:solidFill>
              </a:rPr>
              <a:t>: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2.0 	 Operational Structure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6795937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2.4	Site/Project Supplies, Logistics and non-technical Organization</a:t>
            </a:r>
          </a:p>
        </p:txBody>
      </p: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6427F35D-63DC-F98F-4403-000CB4E8810A}"/>
              </a:ext>
            </a:extLst>
          </p:cNvPr>
          <p:cNvGrpSpPr/>
          <p:nvPr/>
        </p:nvGrpSpPr>
        <p:grpSpPr>
          <a:xfrm>
            <a:off x="5281714" y="1634471"/>
            <a:ext cx="1715254" cy="672808"/>
            <a:chOff x="4411803" y="1086611"/>
            <a:chExt cx="1529627" cy="477698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41656A63-07D3-8C53-192B-CFA152B9BC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1803" y="1345678"/>
              <a:ext cx="1529627" cy="218631"/>
            </a:xfrm>
            <a:prstGeom prst="rect">
              <a:avLst/>
            </a:prstGeom>
          </p:spPr>
        </p:pic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6C5AAE45-3C86-1CCD-D0AE-1F8ED199167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endParaRPr lang="en-US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Coordination Team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PNR </a:t>
              </a:r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CC702AFE-123E-9E4B-C112-BCDD701721AE}"/>
                </a:ext>
              </a:extLst>
            </p:cNvPr>
            <p:cNvSpPr/>
            <p:nvPr/>
          </p:nvSpPr>
          <p:spPr>
            <a:xfrm>
              <a:off x="4431791" y="1086611"/>
              <a:ext cx="1327785" cy="414655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95" name="object 18">
            <a:extLst>
              <a:ext uri="{FF2B5EF4-FFF2-40B4-BE49-F238E27FC236}">
                <a16:creationId xmlns:a16="http://schemas.microsoft.com/office/drawing/2014/main" id="{491674C4-104E-3DE1-EBEE-07A7AA628C9F}"/>
              </a:ext>
            </a:extLst>
          </p:cNvPr>
          <p:cNvGrpSpPr/>
          <p:nvPr/>
        </p:nvGrpSpPr>
        <p:grpSpPr>
          <a:xfrm>
            <a:off x="2739984" y="2678965"/>
            <a:ext cx="1451719" cy="528711"/>
            <a:chOff x="4427730" y="1086611"/>
            <a:chExt cx="1250882" cy="227952"/>
          </a:xfrm>
        </p:grpSpPr>
        <p:sp>
          <p:nvSpPr>
            <p:cNvPr id="296" name="object 20">
              <a:extLst>
                <a:ext uri="{FF2B5EF4-FFF2-40B4-BE49-F238E27FC236}">
                  <a16:creationId xmlns:a16="http://schemas.microsoft.com/office/drawing/2014/main" id="{19E700DA-6E40-1758-12EF-67DD1EB1E247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Drilling Supervisor</a:t>
              </a:r>
            </a:p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Rig Manager</a:t>
              </a:r>
            </a:p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Maintanance</a:t>
              </a:r>
              <a:r>
                <a:rPr lang="en-US" sz="950" b="1" dirty="0">
                  <a:solidFill>
                    <a:schemeClr val="bg1"/>
                  </a:solidFill>
                </a:rPr>
                <a:t> Manager</a:t>
              </a:r>
              <a:endParaRPr lang="en-US" sz="950" dirty="0"/>
            </a:p>
          </p:txBody>
        </p:sp>
        <p:sp>
          <p:nvSpPr>
            <p:cNvPr id="297" name="object 21">
              <a:extLst>
                <a:ext uri="{FF2B5EF4-FFF2-40B4-BE49-F238E27FC236}">
                  <a16:creationId xmlns:a16="http://schemas.microsoft.com/office/drawing/2014/main" id="{9B5619A6-A214-2163-E5A9-2F43A31554B4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07" name="object 18">
            <a:extLst>
              <a:ext uri="{FF2B5EF4-FFF2-40B4-BE49-F238E27FC236}">
                <a16:creationId xmlns:a16="http://schemas.microsoft.com/office/drawing/2014/main" id="{B9DCC26A-B296-9277-FB91-04F13F22C812}"/>
              </a:ext>
            </a:extLst>
          </p:cNvPr>
          <p:cNvGrpSpPr/>
          <p:nvPr/>
        </p:nvGrpSpPr>
        <p:grpSpPr>
          <a:xfrm>
            <a:off x="5550898" y="2679383"/>
            <a:ext cx="1052820" cy="528708"/>
            <a:chOff x="4427730" y="1086611"/>
            <a:chExt cx="1250882" cy="227952"/>
          </a:xfrm>
        </p:grpSpPr>
        <p:sp>
          <p:nvSpPr>
            <p:cNvPr id="308" name="object 20">
              <a:extLst>
                <a:ext uri="{FF2B5EF4-FFF2-40B4-BE49-F238E27FC236}">
                  <a16:creationId xmlns:a16="http://schemas.microsoft.com/office/drawing/2014/main" id="{2228AD96-E0F8-C69E-9B11-2407BF3BC56C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Project 1,2,.. Pointe Focal</a:t>
              </a:r>
            </a:p>
            <a:p>
              <a:pPr algn="ctr"/>
              <a:r>
                <a:rPr lang="en-US" sz="950" dirty="0"/>
                <a:t>1,2,…,n</a:t>
              </a:r>
            </a:p>
          </p:txBody>
        </p:sp>
        <p:sp>
          <p:nvSpPr>
            <p:cNvPr id="309" name="object 21">
              <a:extLst>
                <a:ext uri="{FF2B5EF4-FFF2-40B4-BE49-F238E27FC236}">
                  <a16:creationId xmlns:a16="http://schemas.microsoft.com/office/drawing/2014/main" id="{409484C4-EDCC-2171-E0AA-499B4AA1BFE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34" name="object 18">
            <a:extLst>
              <a:ext uri="{FF2B5EF4-FFF2-40B4-BE49-F238E27FC236}">
                <a16:creationId xmlns:a16="http://schemas.microsoft.com/office/drawing/2014/main" id="{0C61629A-084F-4405-9682-8DA61CD22054}"/>
              </a:ext>
            </a:extLst>
          </p:cNvPr>
          <p:cNvGrpSpPr/>
          <p:nvPr/>
        </p:nvGrpSpPr>
        <p:grpSpPr>
          <a:xfrm>
            <a:off x="3643798" y="4081841"/>
            <a:ext cx="869919" cy="313863"/>
            <a:chOff x="4427729" y="1086610"/>
            <a:chExt cx="1250883" cy="227953"/>
          </a:xfrm>
        </p:grpSpPr>
        <p:sp>
          <p:nvSpPr>
            <p:cNvPr id="335" name="object 20">
              <a:extLst>
                <a:ext uri="{FF2B5EF4-FFF2-40B4-BE49-F238E27FC236}">
                  <a16:creationId xmlns:a16="http://schemas.microsoft.com/office/drawing/2014/main" id="{7477EA30-3681-B37D-2525-575BFCACAA11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Logisticien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336" name="object 21">
              <a:extLst>
                <a:ext uri="{FF2B5EF4-FFF2-40B4-BE49-F238E27FC236}">
                  <a16:creationId xmlns:a16="http://schemas.microsoft.com/office/drawing/2014/main" id="{61CEE9DA-65B8-90D5-7D58-F85D951A1E1E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72B5863E-3F85-D97D-AD11-7DA23087CA4B}"/>
              </a:ext>
            </a:extLst>
          </p:cNvPr>
          <p:cNvCxnSpPr>
            <a:cxnSpLocks/>
          </p:cNvCxnSpPr>
          <p:nvPr/>
        </p:nvCxnSpPr>
        <p:spPr>
          <a:xfrm>
            <a:off x="6096000" y="3205844"/>
            <a:ext cx="0" cy="875394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: Elbow 372">
            <a:extLst>
              <a:ext uri="{FF2B5EF4-FFF2-40B4-BE49-F238E27FC236}">
                <a16:creationId xmlns:a16="http://schemas.microsoft.com/office/drawing/2014/main" id="{9C2FE4FF-DB68-B98F-0564-A7A111FE1A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78757" y="3768202"/>
            <a:ext cx="2060585" cy="296286"/>
          </a:xfrm>
          <a:prstGeom prst="bentConnector3">
            <a:avLst>
              <a:gd name="adj1" fmla="val 99969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3BF3F54A-C134-DEC7-DA7B-B0DC861F4C58}"/>
              </a:ext>
            </a:extLst>
          </p:cNvPr>
          <p:cNvCxnSpPr>
            <a:cxnSpLocks/>
          </p:cNvCxnSpPr>
          <p:nvPr/>
        </p:nvCxnSpPr>
        <p:spPr>
          <a:xfrm>
            <a:off x="6581568" y="2935436"/>
            <a:ext cx="1354481" cy="605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object 18">
            <a:extLst>
              <a:ext uri="{FF2B5EF4-FFF2-40B4-BE49-F238E27FC236}">
                <a16:creationId xmlns:a16="http://schemas.microsoft.com/office/drawing/2014/main" id="{08140CBE-9E3F-A2A8-04B2-197E7ECC98A5}"/>
              </a:ext>
            </a:extLst>
          </p:cNvPr>
          <p:cNvGrpSpPr/>
          <p:nvPr/>
        </p:nvGrpSpPr>
        <p:grpSpPr>
          <a:xfrm>
            <a:off x="7936049" y="2677133"/>
            <a:ext cx="1451719" cy="528711"/>
            <a:chOff x="4427730" y="1086611"/>
            <a:chExt cx="1250882" cy="227952"/>
          </a:xfrm>
        </p:grpSpPr>
        <p:sp>
          <p:nvSpPr>
            <p:cNvPr id="7" name="object 20">
              <a:extLst>
                <a:ext uri="{FF2B5EF4-FFF2-40B4-BE49-F238E27FC236}">
                  <a16:creationId xmlns:a16="http://schemas.microsoft.com/office/drawing/2014/main" id="{965A9E69-FEB8-89EC-9CD7-DB063F7A0C7E}"/>
                </a:ext>
              </a:extLst>
            </p:cNvPr>
            <p:cNvSpPr/>
            <p:nvPr/>
          </p:nvSpPr>
          <p:spPr>
            <a:xfrm>
              <a:off x="4427730" y="1086611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HSE</a:t>
              </a:r>
            </a:p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Camp Boss</a:t>
              </a:r>
            </a:p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Other Supervisors</a:t>
              </a:r>
              <a:endParaRPr lang="en-US" sz="950" dirty="0"/>
            </a:p>
          </p:txBody>
        </p:sp>
        <p:sp>
          <p:nvSpPr>
            <p:cNvPr id="9" name="object 21">
              <a:extLst>
                <a:ext uri="{FF2B5EF4-FFF2-40B4-BE49-F238E27FC236}">
                  <a16:creationId xmlns:a16="http://schemas.microsoft.com/office/drawing/2014/main" id="{937A8399-F527-E07A-EC80-22B3B4DBF2D0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479063-974A-3EEF-1B39-4AFA03AFBCAD}"/>
              </a:ext>
            </a:extLst>
          </p:cNvPr>
          <p:cNvCxnSpPr>
            <a:cxnSpLocks/>
          </p:cNvCxnSpPr>
          <p:nvPr/>
        </p:nvCxnSpPr>
        <p:spPr>
          <a:xfrm>
            <a:off x="4194060" y="2943321"/>
            <a:ext cx="1354481" cy="605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object 18">
            <a:extLst>
              <a:ext uri="{FF2B5EF4-FFF2-40B4-BE49-F238E27FC236}">
                <a16:creationId xmlns:a16="http://schemas.microsoft.com/office/drawing/2014/main" id="{37760C7A-E83C-075A-3493-7A461F5248B3}"/>
              </a:ext>
            </a:extLst>
          </p:cNvPr>
          <p:cNvGrpSpPr/>
          <p:nvPr/>
        </p:nvGrpSpPr>
        <p:grpSpPr>
          <a:xfrm>
            <a:off x="5704382" y="4076095"/>
            <a:ext cx="869919" cy="313863"/>
            <a:chOff x="4427729" y="1086610"/>
            <a:chExt cx="1250883" cy="227953"/>
          </a:xfrm>
        </p:grpSpPr>
        <p:sp>
          <p:nvSpPr>
            <p:cNvPr id="16" name="object 20">
              <a:extLst>
                <a:ext uri="{FF2B5EF4-FFF2-40B4-BE49-F238E27FC236}">
                  <a16:creationId xmlns:a16="http://schemas.microsoft.com/office/drawing/2014/main" id="{CB05DF97-CB73-CF73-AD03-C133C5439641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Magasinier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29" name="object 21">
              <a:extLst>
                <a:ext uri="{FF2B5EF4-FFF2-40B4-BE49-F238E27FC236}">
                  <a16:creationId xmlns:a16="http://schemas.microsoft.com/office/drawing/2014/main" id="{2BD420D6-AED4-41DF-3991-5103DF54ECE1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30" name="object 18">
            <a:extLst>
              <a:ext uri="{FF2B5EF4-FFF2-40B4-BE49-F238E27FC236}">
                <a16:creationId xmlns:a16="http://schemas.microsoft.com/office/drawing/2014/main" id="{8CB0E089-9398-2F93-5FB7-0EBF3D3C0DCE}"/>
              </a:ext>
            </a:extLst>
          </p:cNvPr>
          <p:cNvGrpSpPr/>
          <p:nvPr/>
        </p:nvGrpSpPr>
        <p:grpSpPr>
          <a:xfrm>
            <a:off x="3643798" y="4857881"/>
            <a:ext cx="869919" cy="313863"/>
            <a:chOff x="4427729" y="1086610"/>
            <a:chExt cx="1250883" cy="227953"/>
          </a:xfrm>
        </p:grpSpPr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60C7C60F-B3CB-210D-7E3A-6F661A0C1FAC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Chauffeurs</a:t>
              </a: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224" name="object 21">
              <a:extLst>
                <a:ext uri="{FF2B5EF4-FFF2-40B4-BE49-F238E27FC236}">
                  <a16:creationId xmlns:a16="http://schemas.microsoft.com/office/drawing/2014/main" id="{DB288AA2-FA09-9129-B203-5E721B1C8B4F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25" name="object 18">
            <a:extLst>
              <a:ext uri="{FF2B5EF4-FFF2-40B4-BE49-F238E27FC236}">
                <a16:creationId xmlns:a16="http://schemas.microsoft.com/office/drawing/2014/main" id="{6C256AE1-C231-07F2-9D9F-2156FFEA8B79}"/>
              </a:ext>
            </a:extLst>
          </p:cNvPr>
          <p:cNvGrpSpPr/>
          <p:nvPr/>
        </p:nvGrpSpPr>
        <p:grpSpPr>
          <a:xfrm>
            <a:off x="8952806" y="4073618"/>
            <a:ext cx="869919" cy="313863"/>
            <a:chOff x="4427729" y="1086610"/>
            <a:chExt cx="1250883" cy="227953"/>
          </a:xfrm>
        </p:grpSpPr>
        <p:sp>
          <p:nvSpPr>
            <p:cNvPr id="226" name="object 20">
              <a:extLst>
                <a:ext uri="{FF2B5EF4-FFF2-40B4-BE49-F238E27FC236}">
                  <a16:creationId xmlns:a16="http://schemas.microsoft.com/office/drawing/2014/main" id="{9D3B6CA8-7ACE-209E-32D6-39C0CC1511AC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Camp Boss</a:t>
              </a:r>
            </a:p>
            <a:p>
              <a:pPr algn="ctr"/>
              <a:r>
                <a:rPr lang="en-US" sz="950" dirty="0"/>
                <a:t>Khalid,….,n</a:t>
              </a:r>
            </a:p>
          </p:txBody>
        </p:sp>
        <p:sp>
          <p:nvSpPr>
            <p:cNvPr id="227" name="object 21">
              <a:extLst>
                <a:ext uri="{FF2B5EF4-FFF2-40B4-BE49-F238E27FC236}">
                  <a16:creationId xmlns:a16="http://schemas.microsoft.com/office/drawing/2014/main" id="{82B31D51-D10F-6903-40CC-26A4D57AB33F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28" name="object 18">
            <a:extLst>
              <a:ext uri="{FF2B5EF4-FFF2-40B4-BE49-F238E27FC236}">
                <a16:creationId xmlns:a16="http://schemas.microsoft.com/office/drawing/2014/main" id="{A396AFC1-4955-BA3E-9123-F36773858E9D}"/>
              </a:ext>
            </a:extLst>
          </p:cNvPr>
          <p:cNvGrpSpPr/>
          <p:nvPr/>
        </p:nvGrpSpPr>
        <p:grpSpPr>
          <a:xfrm>
            <a:off x="8952807" y="4864126"/>
            <a:ext cx="869919" cy="313863"/>
            <a:chOff x="4427729" y="1086610"/>
            <a:chExt cx="1250883" cy="227953"/>
          </a:xfrm>
        </p:grpSpPr>
        <p:sp>
          <p:nvSpPr>
            <p:cNvPr id="229" name="object 20">
              <a:extLst>
                <a:ext uri="{FF2B5EF4-FFF2-40B4-BE49-F238E27FC236}">
                  <a16:creationId xmlns:a16="http://schemas.microsoft.com/office/drawing/2014/main" id="{77B00642-7143-0655-D9DC-3546D350D6A8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Chef </a:t>
              </a:r>
              <a:r>
                <a:rPr lang="en-US" sz="950" b="1" dirty="0" err="1">
                  <a:solidFill>
                    <a:schemeClr val="bg1"/>
                  </a:solidFill>
                </a:rPr>
                <a:t>Cuisiner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1,2,….,n</a:t>
              </a:r>
            </a:p>
            <a:p>
              <a:pPr algn="ctr"/>
              <a:endParaRPr lang="en-US" sz="950" dirty="0"/>
            </a:p>
          </p:txBody>
        </p:sp>
        <p:sp>
          <p:nvSpPr>
            <p:cNvPr id="231" name="object 21">
              <a:extLst>
                <a:ext uri="{FF2B5EF4-FFF2-40B4-BE49-F238E27FC236}">
                  <a16:creationId xmlns:a16="http://schemas.microsoft.com/office/drawing/2014/main" id="{F815FAFB-1983-4CE1-4AA6-572DD40015A6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32" name="object 18">
            <a:extLst>
              <a:ext uri="{FF2B5EF4-FFF2-40B4-BE49-F238E27FC236}">
                <a16:creationId xmlns:a16="http://schemas.microsoft.com/office/drawing/2014/main" id="{1F7215ED-8DB4-4024-A3DE-2FF16A4F6246}"/>
              </a:ext>
            </a:extLst>
          </p:cNvPr>
          <p:cNvGrpSpPr/>
          <p:nvPr/>
        </p:nvGrpSpPr>
        <p:grpSpPr>
          <a:xfrm>
            <a:off x="7165979" y="4860565"/>
            <a:ext cx="869919" cy="313863"/>
            <a:chOff x="4427729" y="1086610"/>
            <a:chExt cx="1250883" cy="227953"/>
          </a:xfrm>
        </p:grpSpPr>
        <p:sp>
          <p:nvSpPr>
            <p:cNvPr id="233" name="object 20">
              <a:extLst>
                <a:ext uri="{FF2B5EF4-FFF2-40B4-BE49-F238E27FC236}">
                  <a16:creationId xmlns:a16="http://schemas.microsoft.com/office/drawing/2014/main" id="{D8175A7E-6E7D-164D-F79B-82B44FB4AF41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</a:rPr>
                <a:t>Chef de ménage</a:t>
              </a:r>
            </a:p>
            <a:p>
              <a:pPr algn="ctr"/>
              <a:r>
                <a:rPr lang="en-US" sz="800" dirty="0"/>
                <a:t>1,2,….,n</a:t>
              </a:r>
            </a:p>
            <a:p>
              <a:pPr algn="ctr"/>
              <a:endParaRPr lang="en-US" sz="950" dirty="0"/>
            </a:p>
          </p:txBody>
        </p:sp>
        <p:sp>
          <p:nvSpPr>
            <p:cNvPr id="234" name="object 21">
              <a:extLst>
                <a:ext uri="{FF2B5EF4-FFF2-40B4-BE49-F238E27FC236}">
                  <a16:creationId xmlns:a16="http://schemas.microsoft.com/office/drawing/2014/main" id="{16C0E3BA-8C69-1B98-F38E-CAFDDBE06C1B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35" name="object 18">
            <a:extLst>
              <a:ext uri="{FF2B5EF4-FFF2-40B4-BE49-F238E27FC236}">
                <a16:creationId xmlns:a16="http://schemas.microsoft.com/office/drawing/2014/main" id="{4ED61C50-1EB7-187F-D64E-50F0C5E71044}"/>
              </a:ext>
            </a:extLst>
          </p:cNvPr>
          <p:cNvGrpSpPr/>
          <p:nvPr/>
        </p:nvGrpSpPr>
        <p:grpSpPr>
          <a:xfrm>
            <a:off x="11008337" y="4864125"/>
            <a:ext cx="869919" cy="313863"/>
            <a:chOff x="4427729" y="1086610"/>
            <a:chExt cx="1250883" cy="227953"/>
          </a:xfrm>
        </p:grpSpPr>
        <p:sp>
          <p:nvSpPr>
            <p:cNvPr id="236" name="object 20">
              <a:extLst>
                <a:ext uri="{FF2B5EF4-FFF2-40B4-BE49-F238E27FC236}">
                  <a16:creationId xmlns:a16="http://schemas.microsoft.com/office/drawing/2014/main" id="{3B76EC24-FA61-9516-B992-F6877FB388DB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Boulanger</a:t>
              </a:r>
            </a:p>
            <a:p>
              <a:pPr algn="ctr"/>
              <a:r>
                <a:rPr lang="en-US" sz="950" dirty="0"/>
                <a:t>1,2,….,n</a:t>
              </a:r>
            </a:p>
            <a:p>
              <a:pPr algn="ctr"/>
              <a:endParaRPr lang="en-US" sz="950" dirty="0"/>
            </a:p>
          </p:txBody>
        </p:sp>
        <p:sp>
          <p:nvSpPr>
            <p:cNvPr id="237" name="object 21">
              <a:extLst>
                <a:ext uri="{FF2B5EF4-FFF2-40B4-BE49-F238E27FC236}">
                  <a16:creationId xmlns:a16="http://schemas.microsoft.com/office/drawing/2014/main" id="{ABF8FF81-A6BC-A39E-61F7-CB6EA8F0B450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38" name="object 18">
            <a:extLst>
              <a:ext uri="{FF2B5EF4-FFF2-40B4-BE49-F238E27FC236}">
                <a16:creationId xmlns:a16="http://schemas.microsoft.com/office/drawing/2014/main" id="{B085AF04-CB29-DFA3-5339-DD7D1E55B042}"/>
              </a:ext>
            </a:extLst>
          </p:cNvPr>
          <p:cNvGrpSpPr/>
          <p:nvPr/>
        </p:nvGrpSpPr>
        <p:grpSpPr>
          <a:xfrm>
            <a:off x="6695539" y="5537343"/>
            <a:ext cx="758674" cy="313863"/>
            <a:chOff x="4427729" y="1086610"/>
            <a:chExt cx="1250883" cy="227953"/>
          </a:xfrm>
        </p:grpSpPr>
        <p:sp>
          <p:nvSpPr>
            <p:cNvPr id="239" name="object 20">
              <a:extLst>
                <a:ext uri="{FF2B5EF4-FFF2-40B4-BE49-F238E27FC236}">
                  <a16:creationId xmlns:a16="http://schemas.microsoft.com/office/drawing/2014/main" id="{C0F8B171-3BDC-9D22-F93C-16E6F636CC00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Buander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240" name="object 21">
              <a:extLst>
                <a:ext uri="{FF2B5EF4-FFF2-40B4-BE49-F238E27FC236}">
                  <a16:creationId xmlns:a16="http://schemas.microsoft.com/office/drawing/2014/main" id="{345723E3-55A8-C706-5228-4EACB0700638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41" name="object 18">
            <a:extLst>
              <a:ext uri="{FF2B5EF4-FFF2-40B4-BE49-F238E27FC236}">
                <a16:creationId xmlns:a16="http://schemas.microsoft.com/office/drawing/2014/main" id="{E71D0A03-2783-15F3-A1F3-D60446C2AA69}"/>
              </a:ext>
            </a:extLst>
          </p:cNvPr>
          <p:cNvGrpSpPr/>
          <p:nvPr/>
        </p:nvGrpSpPr>
        <p:grpSpPr>
          <a:xfrm>
            <a:off x="8489329" y="5538280"/>
            <a:ext cx="529638" cy="313863"/>
            <a:chOff x="4427729" y="1086610"/>
            <a:chExt cx="1250883" cy="227953"/>
          </a:xfrm>
        </p:grpSpPr>
        <p:sp>
          <p:nvSpPr>
            <p:cNvPr id="242" name="object 20">
              <a:extLst>
                <a:ext uri="{FF2B5EF4-FFF2-40B4-BE49-F238E27FC236}">
                  <a16:creationId xmlns:a16="http://schemas.microsoft.com/office/drawing/2014/main" id="{B80864B8-E6FF-9255-AC8E-D4A4AE26E753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Cuisiner</a:t>
              </a:r>
              <a:r>
                <a:rPr lang="en-US" sz="950" b="1" dirty="0">
                  <a:solidFill>
                    <a:schemeClr val="bg1"/>
                  </a:solidFill>
                </a:rPr>
                <a:t> </a:t>
              </a:r>
              <a:r>
                <a:rPr lang="en-US" sz="950" dirty="0"/>
                <a:t>1,2,….,n</a:t>
              </a:r>
            </a:p>
            <a:p>
              <a:pPr algn="ctr"/>
              <a:endParaRPr lang="en-US" sz="950" dirty="0"/>
            </a:p>
          </p:txBody>
        </p:sp>
        <p:sp>
          <p:nvSpPr>
            <p:cNvPr id="243" name="object 21">
              <a:extLst>
                <a:ext uri="{FF2B5EF4-FFF2-40B4-BE49-F238E27FC236}">
                  <a16:creationId xmlns:a16="http://schemas.microsoft.com/office/drawing/2014/main" id="{5142E165-7320-EDA2-36BD-56F21BADBF75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44" name="object 18">
            <a:extLst>
              <a:ext uri="{FF2B5EF4-FFF2-40B4-BE49-F238E27FC236}">
                <a16:creationId xmlns:a16="http://schemas.microsoft.com/office/drawing/2014/main" id="{D202C74B-9003-CDAC-679D-A360EA90E044}"/>
              </a:ext>
            </a:extLst>
          </p:cNvPr>
          <p:cNvGrpSpPr/>
          <p:nvPr/>
        </p:nvGrpSpPr>
        <p:grpSpPr>
          <a:xfrm>
            <a:off x="9210874" y="5541016"/>
            <a:ext cx="611851" cy="313863"/>
            <a:chOff x="4427729" y="1086610"/>
            <a:chExt cx="1250883" cy="227953"/>
          </a:xfrm>
        </p:grpSpPr>
        <p:sp>
          <p:nvSpPr>
            <p:cNvPr id="245" name="object 20">
              <a:extLst>
                <a:ext uri="{FF2B5EF4-FFF2-40B4-BE49-F238E27FC236}">
                  <a16:creationId xmlns:a16="http://schemas.microsoft.com/office/drawing/2014/main" id="{446CB645-AF0F-8945-86A3-40185E4C23BB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Serveur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Khalid,….,n</a:t>
              </a:r>
            </a:p>
          </p:txBody>
        </p:sp>
        <p:sp>
          <p:nvSpPr>
            <p:cNvPr id="246" name="object 21">
              <a:extLst>
                <a:ext uri="{FF2B5EF4-FFF2-40B4-BE49-F238E27FC236}">
                  <a16:creationId xmlns:a16="http://schemas.microsoft.com/office/drawing/2014/main" id="{BD8F7F0C-8D35-B840-DBE9-E4D83DE5BC2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grpSp>
        <p:nvGrpSpPr>
          <p:cNvPr id="247" name="object 18">
            <a:extLst>
              <a:ext uri="{FF2B5EF4-FFF2-40B4-BE49-F238E27FC236}">
                <a16:creationId xmlns:a16="http://schemas.microsoft.com/office/drawing/2014/main" id="{410600BB-5626-FF85-2AB0-3E00A008620B}"/>
              </a:ext>
            </a:extLst>
          </p:cNvPr>
          <p:cNvGrpSpPr/>
          <p:nvPr/>
        </p:nvGrpSpPr>
        <p:grpSpPr>
          <a:xfrm>
            <a:off x="10020564" y="5538279"/>
            <a:ext cx="651641" cy="313863"/>
            <a:chOff x="4427729" y="1086610"/>
            <a:chExt cx="1250883" cy="227953"/>
          </a:xfrm>
        </p:grpSpPr>
        <p:sp>
          <p:nvSpPr>
            <p:cNvPr id="248" name="object 20">
              <a:extLst>
                <a:ext uri="{FF2B5EF4-FFF2-40B4-BE49-F238E27FC236}">
                  <a16:creationId xmlns:a16="http://schemas.microsoft.com/office/drawing/2014/main" id="{FFEC8700-3A1B-D607-89BE-058A1D94A609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Plongeur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Khalid,….,n</a:t>
              </a:r>
            </a:p>
          </p:txBody>
        </p:sp>
        <p:sp>
          <p:nvSpPr>
            <p:cNvPr id="249" name="object 21">
              <a:extLst>
                <a:ext uri="{FF2B5EF4-FFF2-40B4-BE49-F238E27FC236}">
                  <a16:creationId xmlns:a16="http://schemas.microsoft.com/office/drawing/2014/main" id="{4FCF3C81-817A-2CF3-FC8B-1359C078C26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EBBCE704-57B9-BD9A-096C-EF22C1A437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00942" y="4695877"/>
            <a:ext cx="1768265" cy="162003"/>
          </a:xfrm>
          <a:prstGeom prst="bentConnector3">
            <a:avLst>
              <a:gd name="adj1" fmla="val 99751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: Elbow 254">
            <a:extLst>
              <a:ext uri="{FF2B5EF4-FFF2-40B4-BE49-F238E27FC236}">
                <a16:creationId xmlns:a16="http://schemas.microsoft.com/office/drawing/2014/main" id="{1D4F38E1-B16E-4A27-B2D0-1C035B5F4328}"/>
              </a:ext>
            </a:extLst>
          </p:cNvPr>
          <p:cNvCxnSpPr>
            <a:cxnSpLocks/>
          </p:cNvCxnSpPr>
          <p:nvPr/>
        </p:nvCxnSpPr>
        <p:spPr>
          <a:xfrm>
            <a:off x="9351749" y="4695879"/>
            <a:ext cx="2088290" cy="162432"/>
          </a:xfrm>
          <a:prstGeom prst="bentConnector3">
            <a:avLst>
              <a:gd name="adj1" fmla="val 100220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B1BED5-BDC4-29BA-FB57-117F4E9B09FE}"/>
              </a:ext>
            </a:extLst>
          </p:cNvPr>
          <p:cNvCxnSpPr>
            <a:cxnSpLocks/>
          </p:cNvCxnSpPr>
          <p:nvPr/>
        </p:nvCxnSpPr>
        <p:spPr>
          <a:xfrm>
            <a:off x="9387765" y="4387400"/>
            <a:ext cx="0" cy="479730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C0F01AD-823F-5142-FE1B-0F2E1D66E19F}"/>
              </a:ext>
            </a:extLst>
          </p:cNvPr>
          <p:cNvCxnSpPr>
            <a:cxnSpLocks/>
          </p:cNvCxnSpPr>
          <p:nvPr/>
        </p:nvCxnSpPr>
        <p:spPr>
          <a:xfrm>
            <a:off x="6077308" y="3764971"/>
            <a:ext cx="3310457" cy="302749"/>
          </a:xfrm>
          <a:prstGeom prst="bentConnector3">
            <a:avLst>
              <a:gd name="adj1" fmla="val 10000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22688FF-2A33-4DA2-DBF8-74D5DEB8BF7F}"/>
              </a:ext>
            </a:extLst>
          </p:cNvPr>
          <p:cNvCxnSpPr>
            <a:cxnSpLocks/>
          </p:cNvCxnSpPr>
          <p:nvPr/>
        </p:nvCxnSpPr>
        <p:spPr>
          <a:xfrm>
            <a:off x="9297627" y="5387327"/>
            <a:ext cx="1050194" cy="143366"/>
          </a:xfrm>
          <a:prstGeom prst="bentConnector3">
            <a:avLst>
              <a:gd name="adj1" fmla="val 100756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C8E0C82-F5B0-B0CE-26C4-49BAE09DFE5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54148" y="5387323"/>
            <a:ext cx="615058" cy="150019"/>
          </a:xfrm>
          <a:prstGeom prst="bentConnector3">
            <a:avLst>
              <a:gd name="adj1" fmla="val 9861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20A4681-2FEF-0221-6C0B-09AE9D0FAC43}"/>
              </a:ext>
            </a:extLst>
          </p:cNvPr>
          <p:cNvCxnSpPr>
            <a:cxnSpLocks/>
          </p:cNvCxnSpPr>
          <p:nvPr/>
        </p:nvCxnSpPr>
        <p:spPr>
          <a:xfrm>
            <a:off x="9385234" y="5177986"/>
            <a:ext cx="0" cy="359357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object 18">
            <a:extLst>
              <a:ext uri="{FF2B5EF4-FFF2-40B4-BE49-F238E27FC236}">
                <a16:creationId xmlns:a16="http://schemas.microsoft.com/office/drawing/2014/main" id="{DB22FD7F-45ED-FE28-CFBC-A144555B2937}"/>
              </a:ext>
            </a:extLst>
          </p:cNvPr>
          <p:cNvGrpSpPr/>
          <p:nvPr/>
        </p:nvGrpSpPr>
        <p:grpSpPr>
          <a:xfrm>
            <a:off x="7798512" y="5536377"/>
            <a:ext cx="611851" cy="313863"/>
            <a:chOff x="4427729" y="1086610"/>
            <a:chExt cx="1250883" cy="227953"/>
          </a:xfrm>
        </p:grpSpPr>
        <p:sp>
          <p:nvSpPr>
            <p:cNvPr id="68" name="object 20">
              <a:extLst>
                <a:ext uri="{FF2B5EF4-FFF2-40B4-BE49-F238E27FC236}">
                  <a16:creationId xmlns:a16="http://schemas.microsoft.com/office/drawing/2014/main" id="{F7A573E9-8201-8285-B632-821629D002D2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 err="1">
                  <a:solidFill>
                    <a:schemeClr val="bg1"/>
                  </a:solidFill>
                </a:rPr>
                <a:t>Cabinier</a:t>
              </a:r>
              <a:endParaRPr lang="en-US" sz="9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69" name="object 21">
              <a:extLst>
                <a:ext uri="{FF2B5EF4-FFF2-40B4-BE49-F238E27FC236}">
                  <a16:creationId xmlns:a16="http://schemas.microsoft.com/office/drawing/2014/main" id="{B9449A31-0214-2D92-B09B-61040B934E0D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FB1C1038-5081-B434-495E-0A96050F11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83477" y="5404424"/>
            <a:ext cx="615058" cy="150019"/>
          </a:xfrm>
          <a:prstGeom prst="bentConnector3">
            <a:avLst>
              <a:gd name="adj1" fmla="val 9861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8A2CE29-2E07-A700-D153-B18EED1884FD}"/>
              </a:ext>
            </a:extLst>
          </p:cNvPr>
          <p:cNvCxnSpPr>
            <a:cxnSpLocks/>
          </p:cNvCxnSpPr>
          <p:nvPr/>
        </p:nvCxnSpPr>
        <p:spPr>
          <a:xfrm>
            <a:off x="7633283" y="5405648"/>
            <a:ext cx="491086" cy="131695"/>
          </a:xfrm>
          <a:prstGeom prst="bentConnector3">
            <a:avLst>
              <a:gd name="adj1" fmla="val 99418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F739B50-3B84-D369-DB9B-0257C825F261}"/>
              </a:ext>
            </a:extLst>
          </p:cNvPr>
          <p:cNvCxnSpPr>
            <a:cxnSpLocks/>
          </p:cNvCxnSpPr>
          <p:nvPr/>
        </p:nvCxnSpPr>
        <p:spPr>
          <a:xfrm>
            <a:off x="7611332" y="5174427"/>
            <a:ext cx="0" cy="231385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2C4DE27-CE36-7101-3BE3-FA047707DDD9}"/>
              </a:ext>
            </a:extLst>
          </p:cNvPr>
          <p:cNvCxnSpPr>
            <a:cxnSpLocks/>
          </p:cNvCxnSpPr>
          <p:nvPr/>
        </p:nvCxnSpPr>
        <p:spPr>
          <a:xfrm>
            <a:off x="4089298" y="4395880"/>
            <a:ext cx="0" cy="471250"/>
          </a:xfrm>
          <a:prstGeom prst="straightConnector1">
            <a:avLst/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BD1CB2E-A4B6-B317-7726-15224E422A1D}"/>
              </a:ext>
            </a:extLst>
          </p:cNvPr>
          <p:cNvCxnSpPr>
            <a:cxnSpLocks/>
          </p:cNvCxnSpPr>
          <p:nvPr/>
        </p:nvCxnSpPr>
        <p:spPr>
          <a:xfrm flipH="1">
            <a:off x="6077308" y="2231747"/>
            <a:ext cx="2457" cy="445386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2EF8BDF-1595-BD6E-931C-907EC5F3F8A5}"/>
              </a:ext>
            </a:extLst>
          </p:cNvPr>
          <p:cNvGrpSpPr/>
          <p:nvPr/>
        </p:nvGrpSpPr>
        <p:grpSpPr>
          <a:xfrm>
            <a:off x="10521488" y="1738507"/>
            <a:ext cx="1626837" cy="534611"/>
            <a:chOff x="10175132" y="504612"/>
            <a:chExt cx="1626837" cy="534611"/>
          </a:xfrm>
        </p:grpSpPr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DFA58B38-0025-DCF0-1170-C65D2DB70CA6}"/>
                </a:ext>
              </a:extLst>
            </p:cNvPr>
            <p:cNvGrpSpPr/>
            <p:nvPr/>
          </p:nvGrpSpPr>
          <p:grpSpPr>
            <a:xfrm>
              <a:off x="10175132" y="504612"/>
              <a:ext cx="1626837" cy="253916"/>
              <a:chOff x="10175132" y="504612"/>
              <a:chExt cx="1626837" cy="253916"/>
            </a:xfrm>
          </p:grpSpPr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A1D0017E-D17E-00AC-A4D2-6876AB782D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5132" y="621971"/>
                <a:ext cx="495349" cy="6052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03F9F17-5D36-F50B-EC21-25904780EE17}"/>
                  </a:ext>
                </a:extLst>
              </p:cNvPr>
              <p:cNvSpPr txBox="1"/>
              <p:nvPr/>
            </p:nvSpPr>
            <p:spPr>
              <a:xfrm>
                <a:off x="10595739" y="504612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Information flow</a:t>
                </a:r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0514D262-20FB-462A-253C-4FA3F1909CC9}"/>
                </a:ext>
              </a:extLst>
            </p:cNvPr>
            <p:cNvGrpSpPr/>
            <p:nvPr/>
          </p:nvGrpSpPr>
          <p:grpSpPr>
            <a:xfrm>
              <a:off x="10204315" y="785307"/>
              <a:ext cx="1597654" cy="253916"/>
              <a:chOff x="10204315" y="785307"/>
              <a:chExt cx="1597654" cy="253916"/>
            </a:xfrm>
          </p:grpSpPr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E3CEBB-B2EA-60D0-6A78-ED7713069C27}"/>
                  </a:ext>
                </a:extLst>
              </p:cNvPr>
              <p:cNvCxnSpPr/>
              <p:nvPr/>
            </p:nvCxnSpPr>
            <p:spPr>
              <a:xfrm>
                <a:off x="10204315" y="912265"/>
                <a:ext cx="467889" cy="0"/>
              </a:xfrm>
              <a:prstGeom prst="straightConnector1">
                <a:avLst/>
              </a:prstGeom>
              <a:ln w="19050">
                <a:solidFill>
                  <a:srgbClr val="697D36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B8DCB75-46DE-B6AD-7048-AD3549CB5EE8}"/>
                  </a:ext>
                </a:extLst>
              </p:cNvPr>
              <p:cNvSpPr txBox="1"/>
              <p:nvPr/>
            </p:nvSpPr>
            <p:spPr>
              <a:xfrm>
                <a:off x="10595739" y="785307"/>
                <a:ext cx="120623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</a:rPr>
                  <a:t>Authority Flow</a:t>
                </a:r>
              </a:p>
            </p:txBody>
          </p:sp>
        </p:grpSp>
      </p:grpSp>
      <p:grpSp>
        <p:nvGrpSpPr>
          <p:cNvPr id="291" name="object 18">
            <a:extLst>
              <a:ext uri="{FF2B5EF4-FFF2-40B4-BE49-F238E27FC236}">
                <a16:creationId xmlns:a16="http://schemas.microsoft.com/office/drawing/2014/main" id="{83493DF7-9651-3F5D-8B10-ABB220FA64EE}"/>
              </a:ext>
            </a:extLst>
          </p:cNvPr>
          <p:cNvGrpSpPr/>
          <p:nvPr/>
        </p:nvGrpSpPr>
        <p:grpSpPr>
          <a:xfrm>
            <a:off x="2607881" y="4838916"/>
            <a:ext cx="869919" cy="313863"/>
            <a:chOff x="4427729" y="1086610"/>
            <a:chExt cx="1250883" cy="227953"/>
          </a:xfrm>
        </p:grpSpPr>
        <p:sp>
          <p:nvSpPr>
            <p:cNvPr id="292" name="object 20">
              <a:extLst>
                <a:ext uri="{FF2B5EF4-FFF2-40B4-BE49-F238E27FC236}">
                  <a16:creationId xmlns:a16="http://schemas.microsoft.com/office/drawing/2014/main" id="{47CF3E98-B952-FBEA-45C4-DE4549D1945F}"/>
                </a:ext>
              </a:extLst>
            </p:cNvPr>
            <p:cNvSpPr/>
            <p:nvPr/>
          </p:nvSpPr>
          <p:spPr>
            <a:xfrm>
              <a:off x="4427729" y="1086610"/>
              <a:ext cx="1250882" cy="227952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1258316" y="0"/>
                  </a:moveTo>
                  <a:lnTo>
                    <a:pt x="69087" y="0"/>
                  </a:lnTo>
                  <a:lnTo>
                    <a:pt x="42219" y="5437"/>
                  </a:lnTo>
                  <a:lnTo>
                    <a:pt x="20256" y="20256"/>
                  </a:lnTo>
                  <a:lnTo>
                    <a:pt x="5437" y="42219"/>
                  </a:lnTo>
                  <a:lnTo>
                    <a:pt x="0" y="69087"/>
                  </a:lnTo>
                  <a:lnTo>
                    <a:pt x="0" y="345439"/>
                  </a:lnTo>
                  <a:lnTo>
                    <a:pt x="5437" y="372308"/>
                  </a:lnTo>
                  <a:lnTo>
                    <a:pt x="20256" y="394271"/>
                  </a:lnTo>
                  <a:lnTo>
                    <a:pt x="42219" y="409090"/>
                  </a:lnTo>
                  <a:lnTo>
                    <a:pt x="69087" y="414527"/>
                  </a:lnTo>
                  <a:lnTo>
                    <a:pt x="1258316" y="414527"/>
                  </a:lnTo>
                  <a:lnTo>
                    <a:pt x="1285184" y="409090"/>
                  </a:lnTo>
                  <a:lnTo>
                    <a:pt x="1307147" y="394271"/>
                  </a:lnTo>
                  <a:lnTo>
                    <a:pt x="1321966" y="372308"/>
                  </a:lnTo>
                  <a:lnTo>
                    <a:pt x="1327404" y="345439"/>
                  </a:lnTo>
                  <a:lnTo>
                    <a:pt x="1327404" y="69087"/>
                  </a:lnTo>
                  <a:lnTo>
                    <a:pt x="1321966" y="42219"/>
                  </a:lnTo>
                  <a:lnTo>
                    <a:pt x="1307147" y="20256"/>
                  </a:lnTo>
                  <a:lnTo>
                    <a:pt x="1285184" y="5437"/>
                  </a:lnTo>
                  <a:lnTo>
                    <a:pt x="1258316" y="0"/>
                  </a:lnTo>
                  <a:close/>
                </a:path>
              </a:pathLst>
            </a:custGeom>
            <a:solidFill>
              <a:srgbClr val="697D36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950" b="1" dirty="0">
                  <a:solidFill>
                    <a:schemeClr val="bg1"/>
                  </a:solidFill>
                </a:rPr>
                <a:t>Security</a:t>
              </a:r>
            </a:p>
            <a:p>
              <a:pPr algn="ctr"/>
              <a:r>
                <a:rPr lang="en-US" sz="950" dirty="0"/>
                <a:t>1,2,….,n</a:t>
              </a:r>
            </a:p>
          </p:txBody>
        </p:sp>
        <p:sp>
          <p:nvSpPr>
            <p:cNvPr id="293" name="object 21">
              <a:extLst>
                <a:ext uri="{FF2B5EF4-FFF2-40B4-BE49-F238E27FC236}">
                  <a16:creationId xmlns:a16="http://schemas.microsoft.com/office/drawing/2014/main" id="{CE863313-220C-2E6F-0FD1-1837C4CB8607}"/>
                </a:ext>
              </a:extLst>
            </p:cNvPr>
            <p:cNvSpPr/>
            <p:nvPr/>
          </p:nvSpPr>
          <p:spPr>
            <a:xfrm>
              <a:off x="4431791" y="1086612"/>
              <a:ext cx="1246821" cy="227951"/>
            </a:xfrm>
            <a:custGeom>
              <a:avLst/>
              <a:gdLst/>
              <a:ahLst/>
              <a:cxnLst/>
              <a:rect l="l" t="t" r="r" b="b"/>
              <a:pathLst>
                <a:path w="1327785" h="414655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258316" y="0"/>
                  </a:lnTo>
                  <a:lnTo>
                    <a:pt x="1285184" y="5437"/>
                  </a:lnTo>
                  <a:lnTo>
                    <a:pt x="1307147" y="20256"/>
                  </a:lnTo>
                  <a:lnTo>
                    <a:pt x="1321966" y="42219"/>
                  </a:lnTo>
                  <a:lnTo>
                    <a:pt x="1327404" y="69087"/>
                  </a:lnTo>
                  <a:lnTo>
                    <a:pt x="1327404" y="345439"/>
                  </a:lnTo>
                  <a:lnTo>
                    <a:pt x="1321966" y="372308"/>
                  </a:lnTo>
                  <a:lnTo>
                    <a:pt x="1307147" y="394271"/>
                  </a:lnTo>
                  <a:lnTo>
                    <a:pt x="1285184" y="409090"/>
                  </a:lnTo>
                  <a:lnTo>
                    <a:pt x="1258316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832"/>
            </a:p>
          </p:txBody>
        </p:sp>
      </p:grpSp>
      <p:cxnSp>
        <p:nvCxnSpPr>
          <p:cNvPr id="294" name="Connector: Elbow 293">
            <a:extLst>
              <a:ext uri="{FF2B5EF4-FFF2-40B4-BE49-F238E27FC236}">
                <a16:creationId xmlns:a16="http://schemas.microsoft.com/office/drawing/2014/main" id="{31B7F599-828F-7F34-E987-D45736F2F7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42841" y="4605039"/>
            <a:ext cx="1046459" cy="233875"/>
          </a:xfrm>
          <a:prstGeom prst="bentConnector3">
            <a:avLst>
              <a:gd name="adj1" fmla="val 100197"/>
            </a:avLst>
          </a:prstGeom>
          <a:ln w="19050">
            <a:solidFill>
              <a:srgbClr val="697D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42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6795937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3.1	Overview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D3E25B8-AD62-EA75-1936-8533BFC26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035335"/>
              </p:ext>
            </p:extLst>
          </p:nvPr>
        </p:nvGraphicFramePr>
        <p:xfrm>
          <a:off x="356583" y="1521453"/>
          <a:ext cx="10175327" cy="403913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70281">
                  <a:extLst>
                    <a:ext uri="{9D8B030D-6E8A-4147-A177-3AD203B41FA5}">
                      <a16:colId xmlns:a16="http://schemas.microsoft.com/office/drawing/2014/main" val="4003727346"/>
                    </a:ext>
                  </a:extLst>
                </a:gridCol>
                <a:gridCol w="3690638">
                  <a:extLst>
                    <a:ext uri="{9D8B030D-6E8A-4147-A177-3AD203B41FA5}">
                      <a16:colId xmlns:a16="http://schemas.microsoft.com/office/drawing/2014/main" val="2064077093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1136253135"/>
                    </a:ext>
                  </a:extLst>
                </a:gridCol>
                <a:gridCol w="2354093">
                  <a:extLst>
                    <a:ext uri="{9D8B030D-6E8A-4147-A177-3AD203B41FA5}">
                      <a16:colId xmlns:a16="http://schemas.microsoft.com/office/drawing/2014/main" val="3673412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Gaps and Needs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7D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Solutions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7D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7D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Need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7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587892"/>
                  </a:ext>
                </a:extLst>
              </a:tr>
              <a:tr h="447473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Cloud-based multiple application builder solution with </a:t>
                      </a:r>
                      <a:r>
                        <a:rPr lang="en-US" sz="1200" dirty="0" err="1"/>
                        <a:t>Zoho</a:t>
                      </a:r>
                      <a:r>
                        <a:rPr lang="en-US" sz="1200" dirty="0"/>
                        <a:t> Creator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84787"/>
                  </a:ext>
                </a:extLst>
              </a:tr>
              <a:tr h="381543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1. HR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 -Ressources Humaine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Working (Needs Clean Up)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97832"/>
                  </a:ext>
                </a:extLst>
              </a:tr>
              <a:tr h="392727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2. Internation Purchasing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OEC-International </a:t>
                      </a:r>
                      <a:r>
                        <a:rPr lang="fr-FR" sz="1400" b="1" dirty="0" err="1"/>
                        <a:t>Purchasing</a:t>
                      </a:r>
                      <a:endParaRPr lang="fr-FR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Build 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03545"/>
                  </a:ext>
                </a:extLst>
              </a:tr>
              <a:tr h="392727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3. Local Purchasing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OEC- </a:t>
                      </a:r>
                      <a:r>
                        <a:rPr lang="fr-FR" sz="1400" b="1" dirty="0" err="1"/>
                        <a:t>Coordinator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Working(Needs Clean Up)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103202"/>
                  </a:ext>
                </a:extLst>
              </a:tr>
              <a:tr h="392727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4. </a:t>
                      </a:r>
                      <a:r>
                        <a:rPr lang="en-US" sz="1200" dirty="0" err="1"/>
                        <a:t>Comptability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OEC- </a:t>
                      </a:r>
                      <a:r>
                        <a:rPr lang="fr-FR" sz="1400" b="1" dirty="0" err="1"/>
                        <a:t>Billing</a:t>
                      </a:r>
                      <a:r>
                        <a:rPr lang="fr-FR" sz="1400" b="1" dirty="0"/>
                        <a:t> And </a:t>
                      </a:r>
                      <a:r>
                        <a:rPr lang="fr-FR" sz="1400" b="1" dirty="0" err="1"/>
                        <a:t>Accounting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Needs revision and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293218"/>
                  </a:ext>
                </a:extLst>
              </a:tr>
              <a:tr h="357817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5.  Invoice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</a:t>
                      </a:r>
                      <a:r>
                        <a:rPr lang="fr-FR" sz="1200" b="1" dirty="0"/>
                        <a:t>OEC- </a:t>
                      </a:r>
                      <a:r>
                        <a:rPr lang="fr-FR" sz="1200" b="1" dirty="0" err="1"/>
                        <a:t>Billing</a:t>
                      </a:r>
                      <a:r>
                        <a:rPr lang="fr-FR" sz="1200" b="1" dirty="0"/>
                        <a:t> And </a:t>
                      </a:r>
                      <a:r>
                        <a:rPr lang="fr-FR" sz="1200" b="1" dirty="0" err="1"/>
                        <a:t>Accounting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Needs revision and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13383"/>
                  </a:ext>
                </a:extLst>
              </a:tr>
              <a:tr h="308998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6.  Maintenance and Repairs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OEC-Inventories – Stocks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Working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988266"/>
                  </a:ext>
                </a:extLst>
              </a:tr>
              <a:tr h="525296"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7.  Camp, Accommodation and Facilities     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Facilities and Accommodation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 Yet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Conception Phase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187809"/>
                  </a:ext>
                </a:extLst>
              </a:tr>
              <a:tr h="525296">
                <a:tc>
                  <a:txBody>
                    <a:bodyPr/>
                    <a:lstStyle/>
                    <a:p>
                      <a:r>
                        <a:rPr lang="en-US" sz="1200" dirty="0"/>
                        <a:t>8. Logistics and Operations Management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</a:t>
                      </a:r>
                      <a:r>
                        <a:rPr lang="fr-FR" sz="1400" b="1" dirty="0"/>
                        <a:t>OEC-Point Focal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 Use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Working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72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70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6795937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3.2	</a:t>
            </a:r>
            <a:r>
              <a:rPr lang="fr-FR" sz="1400" b="1" dirty="0"/>
              <a:t> OEC -Ressources Humaine</a:t>
            </a:r>
            <a:endParaRPr lang="en-US" sz="1400" dirty="0"/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04325E6-2CE4-1D03-564F-39C111271643}"/>
              </a:ext>
            </a:extLst>
          </p:cNvPr>
          <p:cNvSpPr/>
          <p:nvPr/>
        </p:nvSpPr>
        <p:spPr>
          <a:xfrm>
            <a:off x="5603620" y="2838681"/>
            <a:ext cx="2636195" cy="1432389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Employee Database: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Personnel information, Competency Summaries, Bank Information, </a:t>
            </a:r>
            <a:r>
              <a:rPr lang="en-US" sz="1600" b="1" dirty="0" err="1">
                <a:solidFill>
                  <a:schemeClr val="tx1"/>
                </a:solidFill>
              </a:rPr>
              <a:t>etc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1897914A-20DC-7F14-DE73-CD16E6CDCD19}"/>
              </a:ext>
            </a:extLst>
          </p:cNvPr>
          <p:cNvSpPr/>
          <p:nvPr/>
        </p:nvSpPr>
        <p:spPr>
          <a:xfrm>
            <a:off x="1877928" y="167937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Timesheet &amp; Attendance:</a:t>
            </a:r>
            <a:r>
              <a:rPr lang="en-US" sz="15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Pointage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différentes</a:t>
            </a:r>
            <a:r>
              <a:rPr lang="en-US" sz="1400" dirty="0">
                <a:solidFill>
                  <a:schemeClr val="tx1"/>
                </a:solidFill>
              </a:rPr>
              <a:t> bases, </a:t>
            </a:r>
            <a:r>
              <a:rPr lang="en-US" sz="1400" dirty="0" err="1">
                <a:solidFill>
                  <a:schemeClr val="tx1"/>
                </a:solidFill>
              </a:rPr>
              <a:t>journalier</a:t>
            </a:r>
            <a:r>
              <a:rPr lang="en-US" sz="1400" dirty="0">
                <a:solidFill>
                  <a:schemeClr val="tx1"/>
                </a:solidFill>
              </a:rPr>
              <a:t>, vacations, overtime,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601D17C2-5904-F8C9-A2B9-FEF3E4DDA43B}"/>
              </a:ext>
            </a:extLst>
          </p:cNvPr>
          <p:cNvSpPr/>
          <p:nvPr/>
        </p:nvSpPr>
        <p:spPr>
          <a:xfrm>
            <a:off x="1877928" y="4617605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Recruitement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Data collection forms for </a:t>
            </a:r>
            <a:r>
              <a:rPr lang="en-US" sz="1400" dirty="0" err="1">
                <a:solidFill>
                  <a:schemeClr val="tx1"/>
                </a:solidFill>
              </a:rPr>
              <a:t>Cvs</a:t>
            </a:r>
            <a:r>
              <a:rPr lang="en-US" sz="1400" dirty="0">
                <a:solidFill>
                  <a:schemeClr val="tx1"/>
                </a:solidFill>
              </a:rPr>
              <a:t> and others that feed into DB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2F951B-41BE-06F1-7734-85443790475A}"/>
              </a:ext>
            </a:extLst>
          </p:cNvPr>
          <p:cNvSpPr/>
          <p:nvPr/>
        </p:nvSpPr>
        <p:spPr>
          <a:xfrm>
            <a:off x="5603619" y="124053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Employee Portal: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Self service portal (Access pay slips, attendance records, leave requests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91F19C-4677-943B-D054-84436B20B8E5}"/>
              </a:ext>
            </a:extLst>
          </p:cNvPr>
          <p:cNvSpPr/>
          <p:nvPr/>
        </p:nvSpPr>
        <p:spPr>
          <a:xfrm>
            <a:off x="5601137" y="495857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Employee Benefits: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Medical bills, insurance, end of year offers,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8C0EDE-221D-BCE2-DFCF-A247E43ACCAC}"/>
              </a:ext>
            </a:extLst>
          </p:cNvPr>
          <p:cNvSpPr/>
          <p:nvPr/>
        </p:nvSpPr>
        <p:spPr>
          <a:xfrm>
            <a:off x="9329310" y="1679378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Employee Trainings: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Training records and statistics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233D568-6039-DE51-2ACB-0ED06B7302A4}"/>
              </a:ext>
            </a:extLst>
          </p:cNvPr>
          <p:cNvSpPr/>
          <p:nvPr/>
        </p:nvSpPr>
        <p:spPr>
          <a:xfrm>
            <a:off x="9329309" y="311602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Performance </a:t>
            </a:r>
            <a:r>
              <a:rPr lang="en-US" sz="1600" dirty="0" err="1">
                <a:solidFill>
                  <a:schemeClr val="bg1"/>
                </a:solidFill>
              </a:rPr>
              <a:t>Upraisal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Performance feedback and recommendations from department heads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2A4E025-C81B-5DAE-6875-BAB35995B106}"/>
              </a:ext>
            </a:extLst>
          </p:cNvPr>
          <p:cNvSpPr/>
          <p:nvPr/>
        </p:nvSpPr>
        <p:spPr>
          <a:xfrm>
            <a:off x="9329308" y="4617604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Compliance: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Tracker for obligations and requirement fulfillment for local authorities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D2747E-24B6-DFDE-7EFF-DB7B5DEE9DDA}"/>
              </a:ext>
            </a:extLst>
          </p:cNvPr>
          <p:cNvSpPr/>
          <p:nvPr/>
        </p:nvSpPr>
        <p:spPr>
          <a:xfrm>
            <a:off x="1877926" y="311602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Payroll Management: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Payroll calculation, tax deductions, local laws,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187874-8F6A-13E1-12BA-7A4C26A8C237}"/>
              </a:ext>
            </a:extLst>
          </p:cNvPr>
          <p:cNvCxnSpPr>
            <a:cxnSpLocks/>
            <a:endCxn id="250" idx="1"/>
          </p:cNvCxnSpPr>
          <p:nvPr/>
        </p:nvCxnSpPr>
        <p:spPr>
          <a:xfrm>
            <a:off x="4514121" y="2115197"/>
            <a:ext cx="1089499" cy="1439679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4CBC1A-8ADF-3098-7D90-8AC289FC82F8}"/>
              </a:ext>
            </a:extLst>
          </p:cNvPr>
          <p:cNvCxnSpPr>
            <a:cxnSpLocks/>
            <a:stCxn id="250" idx="3"/>
            <a:endCxn id="39" idx="1"/>
          </p:cNvCxnSpPr>
          <p:nvPr/>
        </p:nvCxnSpPr>
        <p:spPr>
          <a:xfrm>
            <a:off x="8239815" y="3554876"/>
            <a:ext cx="1089493" cy="1501574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D76C47-76D0-B2DF-4D47-03CFD7F22432}"/>
              </a:ext>
            </a:extLst>
          </p:cNvPr>
          <p:cNvCxnSpPr>
            <a:cxnSpLocks/>
          </p:cNvCxnSpPr>
          <p:nvPr/>
        </p:nvCxnSpPr>
        <p:spPr>
          <a:xfrm flipV="1">
            <a:off x="4509161" y="3563350"/>
            <a:ext cx="1089497" cy="1501575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A4DEFE-A508-4CFA-E31B-742C2FAE8FED}"/>
              </a:ext>
            </a:extLst>
          </p:cNvPr>
          <p:cNvCxnSpPr>
            <a:cxnSpLocks/>
          </p:cNvCxnSpPr>
          <p:nvPr/>
        </p:nvCxnSpPr>
        <p:spPr>
          <a:xfrm flipV="1">
            <a:off x="8247919" y="2108592"/>
            <a:ext cx="1089495" cy="143665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1C9D58-2CAE-A108-D051-A2AC086EEFC0}"/>
              </a:ext>
            </a:extLst>
          </p:cNvPr>
          <p:cNvCxnSpPr>
            <a:cxnSpLocks/>
            <a:stCxn id="250" idx="0"/>
            <a:endCxn id="32" idx="2"/>
          </p:cNvCxnSpPr>
          <p:nvPr/>
        </p:nvCxnSpPr>
        <p:spPr>
          <a:xfrm flipH="1" flipV="1">
            <a:off x="6921717" y="2118224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365BCF-54D3-C300-5852-17C6FE99323F}"/>
              </a:ext>
            </a:extLst>
          </p:cNvPr>
          <p:cNvCxnSpPr>
            <a:cxnSpLocks/>
          </p:cNvCxnSpPr>
          <p:nvPr/>
        </p:nvCxnSpPr>
        <p:spPr>
          <a:xfrm flipH="1" flipV="1">
            <a:off x="6921714" y="4242378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4349834-D8CE-5A23-6C8D-91163DFABFA5}"/>
              </a:ext>
            </a:extLst>
          </p:cNvPr>
          <p:cNvCxnSpPr>
            <a:cxnSpLocks/>
          </p:cNvCxnSpPr>
          <p:nvPr/>
        </p:nvCxnSpPr>
        <p:spPr>
          <a:xfrm flipH="1" flipV="1">
            <a:off x="4514120" y="3535614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7EBF14E-03E8-985D-1C9E-8A79CD29CC22}"/>
              </a:ext>
            </a:extLst>
          </p:cNvPr>
          <p:cNvCxnSpPr>
            <a:cxnSpLocks/>
          </p:cNvCxnSpPr>
          <p:nvPr/>
        </p:nvCxnSpPr>
        <p:spPr>
          <a:xfrm flipH="1" flipV="1">
            <a:off x="8247919" y="3553720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45C1255D-BD0E-BD0B-EBC9-726CE99AB715}"/>
              </a:ext>
            </a:extLst>
          </p:cNvPr>
          <p:cNvCxnSpPr>
            <a:cxnSpLocks/>
            <a:stCxn id="40" idx="0"/>
            <a:endCxn id="252" idx="2"/>
          </p:cNvCxnSpPr>
          <p:nvPr/>
        </p:nvCxnSpPr>
        <p:spPr>
          <a:xfrm flipV="1">
            <a:off x="3196024" y="2557070"/>
            <a:ext cx="2" cy="558959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EDC0E7-2C5A-1838-7737-3A360DBA9D36}"/>
              </a:ext>
            </a:extLst>
          </p:cNvPr>
          <p:cNvSpPr/>
          <p:nvPr/>
        </p:nvSpPr>
        <p:spPr>
          <a:xfrm>
            <a:off x="194946" y="3282798"/>
            <a:ext cx="1386044" cy="5803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 Accounting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3567F5-F65F-1B47-8ED9-8B77E1447D36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1582231" y="3554875"/>
            <a:ext cx="295695" cy="18843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4A97F8-7454-9446-35E1-AC7B6FB409B9}"/>
              </a:ext>
            </a:extLst>
          </p:cNvPr>
          <p:cNvSpPr/>
          <p:nvPr/>
        </p:nvSpPr>
        <p:spPr>
          <a:xfrm>
            <a:off x="9324346" y="5666599"/>
            <a:ext cx="2636195" cy="679880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Dash board, Reports, Alerts and Reminders: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820EBE-236D-6FD1-3766-E01A1E9CC01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252883" y="3613080"/>
            <a:ext cx="1071463" cy="2393459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DE541B-9BF0-3640-1FB1-029D7107BECE}"/>
              </a:ext>
            </a:extLst>
          </p:cNvPr>
          <p:cNvSpPr/>
          <p:nvPr/>
        </p:nvSpPr>
        <p:spPr>
          <a:xfrm>
            <a:off x="1877926" y="5666604"/>
            <a:ext cx="2631235" cy="67987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Material Requests: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 embedded from purchasing app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59322B-4B61-A0E4-F8DC-F7A67453A56D}"/>
              </a:ext>
            </a:extLst>
          </p:cNvPr>
          <p:cNvCxnSpPr>
            <a:cxnSpLocks/>
            <a:stCxn id="15" idx="3"/>
            <a:endCxn id="250" idx="1"/>
          </p:cNvCxnSpPr>
          <p:nvPr/>
        </p:nvCxnSpPr>
        <p:spPr>
          <a:xfrm flipV="1">
            <a:off x="4509161" y="3554876"/>
            <a:ext cx="1094459" cy="2451664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42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04325E6-2CE4-1D03-564F-39C111271643}"/>
              </a:ext>
            </a:extLst>
          </p:cNvPr>
          <p:cNvSpPr/>
          <p:nvPr/>
        </p:nvSpPr>
        <p:spPr>
          <a:xfrm>
            <a:off x="5603620" y="2838681"/>
            <a:ext cx="2636195" cy="1432389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Items DB: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Classification, Equipment, Consumables, Facilities, </a:t>
            </a:r>
            <a:r>
              <a:rPr lang="en-US" sz="1800" b="1" dirty="0" err="1">
                <a:solidFill>
                  <a:schemeClr val="tx1"/>
                </a:solidFill>
              </a:rPr>
              <a:t>etc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2F951B-41BE-06F1-7734-85443790475A}"/>
              </a:ext>
            </a:extLst>
          </p:cNvPr>
          <p:cNvSpPr/>
          <p:nvPr/>
        </p:nvSpPr>
        <p:spPr>
          <a:xfrm>
            <a:off x="5603619" y="124053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Stock Valuation: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Stock to be kept with prices to allow easy valuation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8C0EDE-221D-BCE2-DFCF-A247E43ACCAC}"/>
              </a:ext>
            </a:extLst>
          </p:cNvPr>
          <p:cNvSpPr/>
          <p:nvPr/>
        </p:nvSpPr>
        <p:spPr>
          <a:xfrm>
            <a:off x="9329310" y="1679378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Dashboard, Reports, Alerts and Reminders: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233D568-6039-DE51-2ACB-0ED06B7302A4}"/>
              </a:ext>
            </a:extLst>
          </p:cNvPr>
          <p:cNvSpPr/>
          <p:nvPr/>
        </p:nvSpPr>
        <p:spPr>
          <a:xfrm>
            <a:off x="9329309" y="3116029"/>
            <a:ext cx="2636195" cy="1126349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Stock Tracking: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Control and keep good records of in/out stock, ability to reverse stock for jobs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D2747E-24B6-DFDE-7EFF-DB7B5DEE9DDA}"/>
              </a:ext>
            </a:extLst>
          </p:cNvPr>
          <p:cNvSpPr/>
          <p:nvPr/>
        </p:nvSpPr>
        <p:spPr>
          <a:xfrm>
            <a:off x="1877926" y="3116029"/>
            <a:ext cx="2636195" cy="8776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Connect to other modules: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Purchasing, MRO, Facilities, Logistics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4CBC1A-8ADF-3098-7D90-8AC289FC82F8}"/>
              </a:ext>
            </a:extLst>
          </p:cNvPr>
          <p:cNvCxnSpPr>
            <a:cxnSpLocks/>
            <a:stCxn id="250" idx="3"/>
          </p:cNvCxnSpPr>
          <p:nvPr/>
        </p:nvCxnSpPr>
        <p:spPr>
          <a:xfrm>
            <a:off x="8239815" y="3554876"/>
            <a:ext cx="1089493" cy="1672058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A4DEFE-A508-4CFA-E31B-742C2FAE8FED}"/>
              </a:ext>
            </a:extLst>
          </p:cNvPr>
          <p:cNvCxnSpPr>
            <a:cxnSpLocks/>
          </p:cNvCxnSpPr>
          <p:nvPr/>
        </p:nvCxnSpPr>
        <p:spPr>
          <a:xfrm flipV="1">
            <a:off x="8247919" y="2108592"/>
            <a:ext cx="1089495" cy="143665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1C9D58-2CAE-A108-D051-A2AC086EEFC0}"/>
              </a:ext>
            </a:extLst>
          </p:cNvPr>
          <p:cNvCxnSpPr>
            <a:cxnSpLocks/>
            <a:stCxn id="250" idx="0"/>
            <a:endCxn id="32" idx="2"/>
          </p:cNvCxnSpPr>
          <p:nvPr/>
        </p:nvCxnSpPr>
        <p:spPr>
          <a:xfrm flipH="1" flipV="1">
            <a:off x="6921717" y="2118224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4349834-D8CE-5A23-6C8D-91163DFABFA5}"/>
              </a:ext>
            </a:extLst>
          </p:cNvPr>
          <p:cNvCxnSpPr>
            <a:cxnSpLocks/>
          </p:cNvCxnSpPr>
          <p:nvPr/>
        </p:nvCxnSpPr>
        <p:spPr>
          <a:xfrm flipH="1" flipV="1">
            <a:off x="4522226" y="3553720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7EBF14E-03E8-985D-1C9E-8A79CD29CC22}"/>
              </a:ext>
            </a:extLst>
          </p:cNvPr>
          <p:cNvCxnSpPr>
            <a:cxnSpLocks/>
          </p:cNvCxnSpPr>
          <p:nvPr/>
        </p:nvCxnSpPr>
        <p:spPr>
          <a:xfrm flipH="1" flipV="1">
            <a:off x="8247919" y="3553720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EDC0E7-2C5A-1838-7737-3A360DBA9D36}"/>
              </a:ext>
            </a:extLst>
          </p:cNvPr>
          <p:cNvSpPr/>
          <p:nvPr/>
        </p:nvSpPr>
        <p:spPr>
          <a:xfrm>
            <a:off x="194946" y="3282798"/>
            <a:ext cx="1386044" cy="5803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 Accounting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3567F5-F65F-1B47-8ED9-8B77E1447D36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1582231" y="3554875"/>
            <a:ext cx="295695" cy="18843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59322B-4B61-A0E4-F8DC-F7A67453A56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517723" y="3595407"/>
            <a:ext cx="1090404" cy="165900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C70A1EB8-A32F-E676-97B3-ED0BA4C356DE}"/>
              </a:ext>
            </a:extLst>
          </p:cNvPr>
          <p:cNvSpPr txBox="1">
            <a:spLocks/>
          </p:cNvSpPr>
          <p:nvPr/>
        </p:nvSpPr>
        <p:spPr>
          <a:xfrm>
            <a:off x="612648" y="913572"/>
            <a:ext cx="7426033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3.3	</a:t>
            </a:r>
            <a:r>
              <a:rPr lang="fr-FR" sz="1400" b="1" dirty="0"/>
              <a:t> OEC-Inventories – Stocks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Needs Migration Data Importation</a:t>
            </a:r>
            <a:r>
              <a:rPr lang="en-US" sz="1400" dirty="0"/>
              <a:t>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5AF7C7-70A1-C741-F3AB-5DC8BF92BD9E}"/>
              </a:ext>
            </a:extLst>
          </p:cNvPr>
          <p:cNvSpPr/>
          <p:nvPr/>
        </p:nvSpPr>
        <p:spPr>
          <a:xfrm>
            <a:off x="5601137" y="495857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Multiple Location: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To control multiple base, bin locations, projects,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BF85D8-3C39-19BD-A6F2-D009C5CD5DD6}"/>
              </a:ext>
            </a:extLst>
          </p:cNvPr>
          <p:cNvSpPr/>
          <p:nvPr/>
        </p:nvSpPr>
        <p:spPr>
          <a:xfrm>
            <a:off x="9329308" y="480471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Material Requests: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 will be embedded in all apps to allow users make requests to inventory team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36F912-1955-B004-5E59-1C7C26BEC87B}"/>
              </a:ext>
            </a:extLst>
          </p:cNvPr>
          <p:cNvCxnSpPr>
            <a:cxnSpLocks/>
          </p:cNvCxnSpPr>
          <p:nvPr/>
        </p:nvCxnSpPr>
        <p:spPr>
          <a:xfrm flipH="1" flipV="1">
            <a:off x="6921714" y="4242378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323A9C-BEC6-7C8C-2683-13D5D80D0D29}"/>
              </a:ext>
            </a:extLst>
          </p:cNvPr>
          <p:cNvSpPr/>
          <p:nvPr/>
        </p:nvSpPr>
        <p:spPr>
          <a:xfrm>
            <a:off x="1886488" y="4914473"/>
            <a:ext cx="2631235" cy="67987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Purchase Requests: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 embedded from purchasing app</a:t>
            </a:r>
          </a:p>
        </p:txBody>
      </p:sp>
    </p:spTree>
    <p:extLst>
      <p:ext uri="{BB962C8B-B14F-4D97-AF65-F5344CB8AC3E}">
        <p14:creationId xmlns:p14="http://schemas.microsoft.com/office/powerpoint/2010/main" val="274480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04325E6-2CE4-1D03-564F-39C111271643}"/>
              </a:ext>
            </a:extLst>
          </p:cNvPr>
          <p:cNvSpPr/>
          <p:nvPr/>
        </p:nvSpPr>
        <p:spPr>
          <a:xfrm>
            <a:off x="10686188" y="3157218"/>
            <a:ext cx="1218550" cy="9199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Items DB: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Embedded from Inventory App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8C0EDE-221D-BCE2-DFCF-A247E43ACCAC}"/>
              </a:ext>
            </a:extLst>
          </p:cNvPr>
          <p:cNvSpPr/>
          <p:nvPr/>
        </p:nvSpPr>
        <p:spPr>
          <a:xfrm>
            <a:off x="5618719" y="559986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Dashboard, Reports, Alerts and Reminders: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EDC0E7-2C5A-1838-7737-3A360DBA9D36}"/>
              </a:ext>
            </a:extLst>
          </p:cNvPr>
          <p:cNvSpPr/>
          <p:nvPr/>
        </p:nvSpPr>
        <p:spPr>
          <a:xfrm>
            <a:off x="1331573" y="5392193"/>
            <a:ext cx="1386044" cy="5803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 Accounting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DE541B-9BF0-3640-1FB1-029D7107BECE}"/>
              </a:ext>
            </a:extLst>
          </p:cNvPr>
          <p:cNvSpPr/>
          <p:nvPr/>
        </p:nvSpPr>
        <p:spPr>
          <a:xfrm>
            <a:off x="5866858" y="1637690"/>
            <a:ext cx="2192847" cy="925432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Purchase Requests: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 embedded also in inventory and MRO apps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639BA76-C466-CA53-AC55-2484754980F6}"/>
              </a:ext>
            </a:extLst>
          </p:cNvPr>
          <p:cNvSpPr txBox="1">
            <a:spLocks/>
          </p:cNvSpPr>
          <p:nvPr/>
        </p:nvSpPr>
        <p:spPr>
          <a:xfrm>
            <a:off x="612648" y="871880"/>
            <a:ext cx="7168378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3.4	</a:t>
            </a:r>
            <a:r>
              <a:rPr lang="fr-FR" sz="1400" b="1" dirty="0"/>
              <a:t> OEC- </a:t>
            </a:r>
            <a:r>
              <a:rPr lang="fr-FR" sz="1400" b="1" dirty="0" err="1"/>
              <a:t>Coordinator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Needs revision</a:t>
            </a:r>
            <a:r>
              <a:rPr lang="en-US" sz="1400" dirty="0"/>
              <a:t>)/</a:t>
            </a:r>
            <a:r>
              <a:rPr lang="en-US" sz="1200" dirty="0"/>
              <a:t> </a:t>
            </a:r>
            <a:r>
              <a:rPr lang="fr-FR" sz="1400" b="1" dirty="0"/>
              <a:t>OEC-International </a:t>
            </a:r>
            <a:r>
              <a:rPr lang="fr-FR" sz="1400" b="1" dirty="0" err="1"/>
              <a:t>Purchasing</a:t>
            </a:r>
            <a:r>
              <a:rPr lang="fr-FR" sz="1400" b="1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Build Phase</a:t>
            </a:r>
            <a:r>
              <a:rPr lang="fr-FR" sz="1400" b="1" dirty="0"/>
              <a:t>)</a:t>
            </a:r>
          </a:p>
          <a:p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5CFD82-7F93-6FCB-730C-55895D746004}"/>
              </a:ext>
            </a:extLst>
          </p:cNvPr>
          <p:cNvSpPr/>
          <p:nvPr/>
        </p:nvSpPr>
        <p:spPr>
          <a:xfrm>
            <a:off x="5866859" y="3283052"/>
            <a:ext cx="2192847" cy="7517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Purchase Order: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After supplier selection by comparing quotes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BE7A49-590D-95B5-A4F0-85A683BA8D64}"/>
              </a:ext>
            </a:extLst>
          </p:cNvPr>
          <p:cNvSpPr/>
          <p:nvPr/>
        </p:nvSpPr>
        <p:spPr>
          <a:xfrm>
            <a:off x="5813927" y="4349484"/>
            <a:ext cx="2245779" cy="83503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Delivery Note: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Automatically Generate Delivery Note upon delivery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38CD93-C9A3-5A32-0DF3-C2877A3F4384}"/>
              </a:ext>
            </a:extLst>
          </p:cNvPr>
          <p:cNvSpPr/>
          <p:nvPr/>
        </p:nvSpPr>
        <p:spPr>
          <a:xfrm>
            <a:off x="8467822" y="4388616"/>
            <a:ext cx="2245779" cy="74869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Stock Entry: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Inject and update into inventory Database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FD115F-76C2-956D-AD2F-25DCA456911E}"/>
              </a:ext>
            </a:extLst>
          </p:cNvPr>
          <p:cNvSpPr/>
          <p:nvPr/>
        </p:nvSpPr>
        <p:spPr>
          <a:xfrm>
            <a:off x="3160032" y="4392654"/>
            <a:ext cx="2192848" cy="748692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Facture Status: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Track related invoice status with accounting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61689D-EA8A-6C1A-E0D9-012561B13804}"/>
              </a:ext>
            </a:extLst>
          </p:cNvPr>
          <p:cNvSpPr/>
          <p:nvPr/>
        </p:nvSpPr>
        <p:spPr>
          <a:xfrm>
            <a:off x="3488582" y="2439202"/>
            <a:ext cx="2245778" cy="74869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Supplier DB: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Manage, control suppliers &amp; records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4FADE12-40BB-EF4A-41E6-3CFD7E25A306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 flipV="1">
            <a:off x="2717617" y="4767000"/>
            <a:ext cx="442415" cy="915375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5857E24-05D4-899C-7C04-F6A61880EC01}"/>
              </a:ext>
            </a:extLst>
          </p:cNvPr>
          <p:cNvCxnSpPr>
            <a:cxnSpLocks/>
            <a:stCxn id="15" idx="3"/>
            <a:endCxn id="250" idx="1"/>
          </p:cNvCxnSpPr>
          <p:nvPr/>
        </p:nvCxnSpPr>
        <p:spPr>
          <a:xfrm>
            <a:off x="8059705" y="2100406"/>
            <a:ext cx="2626483" cy="1516777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FF0D704-F0ED-B2A5-F684-B350127D84A8}"/>
              </a:ext>
            </a:extLst>
          </p:cNvPr>
          <p:cNvCxnSpPr>
            <a:cxnSpLocks/>
            <a:stCxn id="250" idx="2"/>
            <a:endCxn id="19" idx="3"/>
          </p:cNvCxnSpPr>
          <p:nvPr/>
        </p:nvCxnSpPr>
        <p:spPr>
          <a:xfrm rot="5400000">
            <a:off x="10661624" y="4129124"/>
            <a:ext cx="685816" cy="581862"/>
          </a:xfrm>
          <a:prstGeom prst="bentConnector2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E031E786-B2E6-72A4-EBD0-05E32458E781}"/>
              </a:ext>
            </a:extLst>
          </p:cNvPr>
          <p:cNvCxnSpPr>
            <a:cxnSpLocks/>
            <a:stCxn id="15" idx="1"/>
            <a:endCxn id="21" idx="0"/>
          </p:cNvCxnSpPr>
          <p:nvPr/>
        </p:nvCxnSpPr>
        <p:spPr>
          <a:xfrm rot="10800000" flipV="1">
            <a:off x="4611472" y="2100406"/>
            <a:ext cx="1255387" cy="338796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4A1993F3-2E1A-6DA0-6173-9E0CF5B0CC5B}"/>
              </a:ext>
            </a:extLst>
          </p:cNvPr>
          <p:cNvCxnSpPr>
            <a:cxnSpLocks/>
            <a:stCxn id="21" idx="3"/>
            <a:endCxn id="15" idx="2"/>
          </p:cNvCxnSpPr>
          <p:nvPr/>
        </p:nvCxnSpPr>
        <p:spPr>
          <a:xfrm flipV="1">
            <a:off x="5734360" y="2563122"/>
            <a:ext cx="1228922" cy="250427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33B5171-6B44-61D4-AF3E-36F0839546F3}"/>
              </a:ext>
            </a:extLst>
          </p:cNvPr>
          <p:cNvCxnSpPr>
            <a:cxnSpLocks/>
          </p:cNvCxnSpPr>
          <p:nvPr/>
        </p:nvCxnSpPr>
        <p:spPr>
          <a:xfrm>
            <a:off x="7095780" y="2600613"/>
            <a:ext cx="0" cy="675746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F34E015C-148A-4452-0185-2E6CF4A598FC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4611472" y="3187895"/>
            <a:ext cx="1244533" cy="594324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FA6B2385-081C-F202-58AD-A7D677D10439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flipH="1">
            <a:off x="6936817" y="4034816"/>
            <a:ext cx="26466" cy="314668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F17D3376-8DDC-4C62-AD6B-6951054A5318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 flipV="1">
            <a:off x="5352880" y="4767000"/>
            <a:ext cx="461047" cy="1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A6BA6C8-359F-2803-AD03-4C050C7830CB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8059706" y="4762963"/>
            <a:ext cx="408116" cy="4038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738F772-EB5C-5270-179C-FCD57AC65390}"/>
              </a:ext>
            </a:extLst>
          </p:cNvPr>
          <p:cNvCxnSpPr>
            <a:cxnSpLocks/>
            <a:stCxn id="19" idx="2"/>
            <a:endCxn id="34" idx="3"/>
          </p:cNvCxnSpPr>
          <p:nvPr/>
        </p:nvCxnSpPr>
        <p:spPr>
          <a:xfrm rot="5400000">
            <a:off x="8472111" y="4920113"/>
            <a:ext cx="901405" cy="1335798"/>
          </a:xfrm>
          <a:prstGeom prst="bentConnector2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648E5C3-7977-706C-1922-EF407F78FF35}"/>
              </a:ext>
            </a:extLst>
          </p:cNvPr>
          <p:cNvCxnSpPr>
            <a:cxnSpLocks/>
            <a:stCxn id="20" idx="2"/>
            <a:endCxn id="34" idx="1"/>
          </p:cNvCxnSpPr>
          <p:nvPr/>
        </p:nvCxnSpPr>
        <p:spPr>
          <a:xfrm rot="16200000" flipH="1">
            <a:off x="4488903" y="4908898"/>
            <a:ext cx="897369" cy="1362263"/>
          </a:xfrm>
          <a:prstGeom prst="bentConnector2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F0EE93E-8409-4553-6910-F525BFBCBA1D}"/>
              </a:ext>
            </a:extLst>
          </p:cNvPr>
          <p:cNvCxnSpPr>
            <a:cxnSpLocks/>
            <a:stCxn id="34" idx="0"/>
            <a:endCxn id="18" idx="2"/>
          </p:cNvCxnSpPr>
          <p:nvPr/>
        </p:nvCxnSpPr>
        <p:spPr>
          <a:xfrm flipV="1">
            <a:off x="6936817" y="5184517"/>
            <a:ext cx="0" cy="415352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C5C7FA6C-E551-248F-6F32-BC6F049ED60A}"/>
              </a:ext>
            </a:extLst>
          </p:cNvPr>
          <p:cNvSpPr txBox="1"/>
          <p:nvPr/>
        </p:nvSpPr>
        <p:spPr>
          <a:xfrm>
            <a:off x="4649775" y="1850237"/>
            <a:ext cx="1206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Local Purchase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377A293C-2BA9-CC2B-FCE2-84F440531590}"/>
              </a:ext>
            </a:extLst>
          </p:cNvPr>
          <p:cNvSpPr txBox="1"/>
          <p:nvPr/>
        </p:nvSpPr>
        <p:spPr>
          <a:xfrm>
            <a:off x="2477452" y="2600613"/>
            <a:ext cx="1020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Not Available International</a:t>
            </a:r>
          </a:p>
        </p:txBody>
      </p: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3B8656E1-C7B9-A92B-48F3-DCFB8C8CA629}"/>
              </a:ext>
            </a:extLst>
          </p:cNvPr>
          <p:cNvCxnSpPr>
            <a:cxnSpLocks/>
            <a:stCxn id="21" idx="1"/>
            <a:endCxn id="324" idx="2"/>
          </p:cNvCxnSpPr>
          <p:nvPr/>
        </p:nvCxnSpPr>
        <p:spPr>
          <a:xfrm rot="10800000">
            <a:off x="2407480" y="1911839"/>
            <a:ext cx="1081102" cy="901710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A86969FB-7442-3694-A40D-9046C50C5F5D}"/>
              </a:ext>
            </a:extLst>
          </p:cNvPr>
          <p:cNvSpPr txBox="1"/>
          <p:nvPr/>
        </p:nvSpPr>
        <p:spPr>
          <a:xfrm>
            <a:off x="5721865" y="2572194"/>
            <a:ext cx="1206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Available &amp; OK?</a:t>
            </a: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4C48D286-AD06-D797-6283-D25F1BAA3D17}"/>
              </a:ext>
            </a:extLst>
          </p:cNvPr>
          <p:cNvSpPr/>
          <p:nvPr/>
        </p:nvSpPr>
        <p:spPr>
          <a:xfrm>
            <a:off x="1532988" y="1161789"/>
            <a:ext cx="1748983" cy="750050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Interntional</a:t>
            </a:r>
            <a:r>
              <a:rPr lang="en-US" sz="1600" dirty="0">
                <a:solidFill>
                  <a:schemeClr val="bg1"/>
                </a:solidFill>
              </a:rPr>
              <a:t> Request: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32" name="Rectangle: Rounded Corners 331">
            <a:extLst>
              <a:ext uri="{FF2B5EF4-FFF2-40B4-BE49-F238E27FC236}">
                <a16:creationId xmlns:a16="http://schemas.microsoft.com/office/drawing/2014/main" id="{1C51C20F-CBC9-6321-8150-A97135BCFEB7}"/>
              </a:ext>
            </a:extLst>
          </p:cNvPr>
          <p:cNvSpPr/>
          <p:nvPr/>
        </p:nvSpPr>
        <p:spPr>
          <a:xfrm>
            <a:off x="9811696" y="1155963"/>
            <a:ext cx="1748983" cy="750050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Shipment Tracking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7DCD7B2E-1E7D-7A6D-FD64-ED9F7918C227}"/>
              </a:ext>
            </a:extLst>
          </p:cNvPr>
          <p:cNvCxnSpPr>
            <a:cxnSpLocks/>
            <a:stCxn id="324" idx="3"/>
            <a:endCxn id="332" idx="1"/>
          </p:cNvCxnSpPr>
          <p:nvPr/>
        </p:nvCxnSpPr>
        <p:spPr>
          <a:xfrm flipV="1">
            <a:off x="3281971" y="1530988"/>
            <a:ext cx="6529725" cy="5826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F4F3374D-E4C6-67F6-0636-F66D5FAA2EE7}"/>
              </a:ext>
            </a:extLst>
          </p:cNvPr>
          <p:cNvCxnSpPr>
            <a:cxnSpLocks/>
            <a:stCxn id="332" idx="2"/>
            <a:endCxn id="250" idx="0"/>
          </p:cNvCxnSpPr>
          <p:nvPr/>
        </p:nvCxnSpPr>
        <p:spPr>
          <a:xfrm rot="16200000" flipH="1">
            <a:off x="10365223" y="2226977"/>
            <a:ext cx="1251205" cy="609275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6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04325E6-2CE4-1D03-564F-39C111271643}"/>
              </a:ext>
            </a:extLst>
          </p:cNvPr>
          <p:cNvSpPr/>
          <p:nvPr/>
        </p:nvSpPr>
        <p:spPr>
          <a:xfrm>
            <a:off x="8720019" y="1691810"/>
            <a:ext cx="1218550" cy="9199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Items DB: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Embedded from Inventory App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639BA76-C466-CA53-AC55-2484754980F6}"/>
              </a:ext>
            </a:extLst>
          </p:cNvPr>
          <p:cNvSpPr txBox="1">
            <a:spLocks/>
          </p:cNvSpPr>
          <p:nvPr/>
        </p:nvSpPr>
        <p:spPr>
          <a:xfrm>
            <a:off x="612648" y="871880"/>
            <a:ext cx="6795937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3.5	Maintenance, Repair, and Operations (MRO) App (</a:t>
            </a:r>
            <a:r>
              <a:rPr lang="en-US" sz="1400" dirty="0">
                <a:solidFill>
                  <a:srgbClr val="FF0000"/>
                </a:solidFill>
              </a:rPr>
              <a:t>Needs build</a:t>
            </a:r>
            <a:r>
              <a:rPr lang="en-US" sz="1400" dirty="0"/>
              <a:t>)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33B5171-6B44-61D4-AF3E-36F0839546F3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2957304" y="5049263"/>
            <a:ext cx="1" cy="353119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F4F3374D-E4C6-67F6-0636-F66D5FAA2EE7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3475797" y="2718767"/>
            <a:ext cx="257107" cy="1294090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832D07-F589-0CBC-2927-83216C876014}"/>
              </a:ext>
            </a:extLst>
          </p:cNvPr>
          <p:cNvSpPr/>
          <p:nvPr/>
        </p:nvSpPr>
        <p:spPr>
          <a:xfrm>
            <a:off x="2136431" y="1877992"/>
            <a:ext cx="1641749" cy="547566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Maintenance Request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With asset </a:t>
            </a:r>
            <a:r>
              <a:rPr lang="en-US" sz="1200" dirty="0" err="1">
                <a:solidFill>
                  <a:schemeClr val="tx1"/>
                </a:solidFill>
              </a:rPr>
              <a:t>deatils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F727C9-661B-A1DD-4FD8-519607D22067}"/>
              </a:ext>
            </a:extLst>
          </p:cNvPr>
          <p:cNvSpPr/>
          <p:nvPr/>
        </p:nvSpPr>
        <p:spPr>
          <a:xfrm>
            <a:off x="1980681" y="2748802"/>
            <a:ext cx="1953247" cy="488457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Approved Work Order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With </a:t>
            </a:r>
            <a:r>
              <a:rPr lang="en-US" sz="1200" dirty="0" err="1">
                <a:solidFill>
                  <a:schemeClr val="tx1"/>
                </a:solidFill>
              </a:rPr>
              <a:t>taks</a:t>
            </a:r>
            <a:r>
              <a:rPr lang="en-US" sz="1200" dirty="0">
                <a:solidFill>
                  <a:schemeClr val="tx1"/>
                </a:solidFill>
              </a:rPr>
              <a:t>, schedule, </a:t>
            </a:r>
            <a:r>
              <a:rPr lang="en-US" sz="1200" dirty="0" err="1">
                <a:solidFill>
                  <a:schemeClr val="tx1"/>
                </a:solidFill>
              </a:rPr>
              <a:t>etc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948C8D-9708-FCE6-0E67-BFECFEE05607}"/>
              </a:ext>
            </a:extLst>
          </p:cNvPr>
          <p:cNvSpPr/>
          <p:nvPr/>
        </p:nvSpPr>
        <p:spPr>
          <a:xfrm>
            <a:off x="357600" y="3496774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Spares’Check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Embedded Inventory App check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DFA203-A2E1-2AF8-623B-22823BE77F41}"/>
              </a:ext>
            </a:extLst>
          </p:cNvPr>
          <p:cNvSpPr/>
          <p:nvPr/>
        </p:nvSpPr>
        <p:spPr>
          <a:xfrm>
            <a:off x="3274771" y="3494366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Purchase Request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Use Embedded Form if no stock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5FBA86-ACF9-6E0A-6801-A94CF6A11C95}"/>
              </a:ext>
            </a:extLst>
          </p:cNvPr>
          <p:cNvSpPr/>
          <p:nvPr/>
        </p:nvSpPr>
        <p:spPr>
          <a:xfrm>
            <a:off x="1980681" y="4468899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Work Execution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Records kept and WO updated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F9FE24-B66C-013E-2BC6-B86EF3DDD7A7}"/>
              </a:ext>
            </a:extLst>
          </p:cNvPr>
          <p:cNvSpPr/>
          <p:nvPr/>
        </p:nvSpPr>
        <p:spPr>
          <a:xfrm>
            <a:off x="1943932" y="5402382"/>
            <a:ext cx="2026744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WO Completion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Work acceptance, status marked completed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03847D-FF7D-7E4C-D30E-AF6EF44677FA}"/>
              </a:ext>
            </a:extLst>
          </p:cNvPr>
          <p:cNvSpPr/>
          <p:nvPr/>
        </p:nvSpPr>
        <p:spPr>
          <a:xfrm>
            <a:off x="5238022" y="5695938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Notification, alerts, reports, Dash board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E140F1-D12B-B265-3AF7-D9AA0F7D708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957305" y="2425558"/>
            <a:ext cx="1" cy="323244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4DDECC9D-5852-E7B0-433B-54C0EBC5EB6D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2016008" y="2555476"/>
            <a:ext cx="259515" cy="1623081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31C3FD80-48BE-CBF8-0256-B0D80AACB2C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16200000" flipH="1">
            <a:off x="1949884" y="3461477"/>
            <a:ext cx="391761" cy="1623081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06D0B9B4-AC83-2E6B-1AE1-F756369AE28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5400000">
            <a:off x="3407266" y="3624769"/>
            <a:ext cx="394169" cy="1294090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1B4CEE69-41BE-97C1-2C7D-C3CE689B8A1E}"/>
              </a:ext>
            </a:extLst>
          </p:cNvPr>
          <p:cNvSpPr/>
          <p:nvPr/>
        </p:nvSpPr>
        <p:spPr>
          <a:xfrm>
            <a:off x="8240293" y="2964696"/>
            <a:ext cx="2178002" cy="570635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Preventive M Plan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Schedule for each equipment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167022C1-7311-0FA5-D26C-886DD18D557B}"/>
              </a:ext>
            </a:extLst>
          </p:cNvPr>
          <p:cNvSpPr/>
          <p:nvPr/>
        </p:nvSpPr>
        <p:spPr>
          <a:xfrm>
            <a:off x="8240293" y="3995908"/>
            <a:ext cx="2178002" cy="570635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Create Triggers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Manual triggers based on checklist updates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9F92BC5D-B162-1F6D-E108-A9C540741866}"/>
              </a:ext>
            </a:extLst>
          </p:cNvPr>
          <p:cNvSpPr/>
          <p:nvPr/>
        </p:nvSpPr>
        <p:spPr>
          <a:xfrm>
            <a:off x="8210051" y="5061290"/>
            <a:ext cx="2249055" cy="90233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Create Maintenance Request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Once a trigger is activated, it automatically creates a MR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BB326C31-9864-7C70-4598-D11EE69154F5}"/>
              </a:ext>
            </a:extLst>
          </p:cNvPr>
          <p:cNvCxnSpPr>
            <a:cxnSpLocks/>
            <a:stCxn id="241" idx="1"/>
            <a:endCxn id="4" idx="3"/>
          </p:cNvCxnSpPr>
          <p:nvPr/>
        </p:nvCxnSpPr>
        <p:spPr>
          <a:xfrm rot="10800000">
            <a:off x="3778181" y="2151776"/>
            <a:ext cx="4431871" cy="3360681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27B51B2C-E7AB-D47C-690A-FB6CD407A279}"/>
              </a:ext>
            </a:extLst>
          </p:cNvPr>
          <p:cNvCxnSpPr>
            <a:cxnSpLocks/>
            <a:stCxn id="250" idx="2"/>
            <a:endCxn id="238" idx="0"/>
          </p:cNvCxnSpPr>
          <p:nvPr/>
        </p:nvCxnSpPr>
        <p:spPr>
          <a:xfrm>
            <a:off x="9329294" y="2611739"/>
            <a:ext cx="0" cy="352957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B3FC5A3B-CA99-BD5E-7748-00408112B876}"/>
              </a:ext>
            </a:extLst>
          </p:cNvPr>
          <p:cNvCxnSpPr>
            <a:cxnSpLocks/>
            <a:stCxn id="238" idx="2"/>
            <a:endCxn id="239" idx="0"/>
          </p:cNvCxnSpPr>
          <p:nvPr/>
        </p:nvCxnSpPr>
        <p:spPr>
          <a:xfrm>
            <a:off x="9329294" y="3535331"/>
            <a:ext cx="0" cy="460577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11F90D-03CD-EE55-F713-BF41999359FA}"/>
              </a:ext>
            </a:extLst>
          </p:cNvPr>
          <p:cNvCxnSpPr>
            <a:cxnSpLocks/>
            <a:stCxn id="239" idx="2"/>
            <a:endCxn id="241" idx="0"/>
          </p:cNvCxnSpPr>
          <p:nvPr/>
        </p:nvCxnSpPr>
        <p:spPr>
          <a:xfrm>
            <a:off x="9329294" y="4566543"/>
            <a:ext cx="5285" cy="494747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97A928C-6A21-1354-7354-3DD0A53AA779}"/>
              </a:ext>
            </a:extLst>
          </p:cNvPr>
          <p:cNvSpPr txBox="1"/>
          <p:nvPr/>
        </p:nvSpPr>
        <p:spPr>
          <a:xfrm>
            <a:off x="1873519" y="1305382"/>
            <a:ext cx="17840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Corrective Maintenance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17149F-6EF4-5E48-6E18-D61A29CE8F98}"/>
              </a:ext>
            </a:extLst>
          </p:cNvPr>
          <p:cNvSpPr txBox="1"/>
          <p:nvPr/>
        </p:nvSpPr>
        <p:spPr>
          <a:xfrm>
            <a:off x="8437253" y="1305382"/>
            <a:ext cx="17840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Preventive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670933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DD09A1A9-6ED0-F7A6-1455-261DE977A178}"/>
              </a:ext>
            </a:extLst>
          </p:cNvPr>
          <p:cNvSpPr txBox="1">
            <a:spLocks/>
          </p:cNvSpPr>
          <p:nvPr/>
        </p:nvSpPr>
        <p:spPr>
          <a:xfrm>
            <a:off x="634272" y="896530"/>
            <a:ext cx="7603060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3.6	Camp, Accommodation and Meals App (</a:t>
            </a:r>
            <a:r>
              <a:rPr lang="en-US" sz="1400" dirty="0">
                <a:solidFill>
                  <a:srgbClr val="FF0000"/>
                </a:solidFill>
              </a:rPr>
              <a:t>Needs Conception And Build</a:t>
            </a:r>
            <a:r>
              <a:rPr lang="en-US" sz="1400" dirty="0"/>
              <a:t>)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04325E6-2CE4-1D03-564F-39C111271643}"/>
              </a:ext>
            </a:extLst>
          </p:cNvPr>
          <p:cNvSpPr/>
          <p:nvPr/>
        </p:nvSpPr>
        <p:spPr>
          <a:xfrm>
            <a:off x="5603620" y="2838681"/>
            <a:ext cx="2636195" cy="1432389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Bases, Rooms, Meals DB: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Connected to Inventory Assets App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601D17C2-5904-F8C9-A2B9-FEF3E4DDA43B}"/>
              </a:ext>
            </a:extLst>
          </p:cNvPr>
          <p:cNvSpPr/>
          <p:nvPr/>
        </p:nvSpPr>
        <p:spPr>
          <a:xfrm>
            <a:off x="1872966" y="1486966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Accommodation </a:t>
            </a:r>
            <a:r>
              <a:rPr lang="en-US" sz="1600" dirty="0" err="1">
                <a:solidFill>
                  <a:schemeClr val="bg1"/>
                </a:solidFill>
              </a:rPr>
              <a:t>Checkin</a:t>
            </a:r>
            <a:r>
              <a:rPr lang="en-US" sz="1600" dirty="0">
                <a:solidFill>
                  <a:schemeClr val="bg1"/>
                </a:solidFill>
              </a:rPr>
              <a:t>/out: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2F951B-41BE-06F1-7734-85443790475A}"/>
              </a:ext>
            </a:extLst>
          </p:cNvPr>
          <p:cNvSpPr/>
          <p:nvPr/>
        </p:nvSpPr>
        <p:spPr>
          <a:xfrm>
            <a:off x="5603619" y="124053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Rooms and bed space allocation: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91F19C-4677-943B-D054-84436B20B8E5}"/>
              </a:ext>
            </a:extLst>
          </p:cNvPr>
          <p:cNvSpPr/>
          <p:nvPr/>
        </p:nvSpPr>
        <p:spPr>
          <a:xfrm>
            <a:off x="5601137" y="4958573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Meals Plans and follow up: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233D568-6039-DE51-2ACB-0ED06B7302A4}"/>
              </a:ext>
            </a:extLst>
          </p:cNvPr>
          <p:cNvSpPr/>
          <p:nvPr/>
        </p:nvSpPr>
        <p:spPr>
          <a:xfrm>
            <a:off x="9329309" y="311602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Food Inventory: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Connected to Inventory App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D2747E-24B6-DFDE-7EFF-DB7B5DEE9DDA}"/>
              </a:ext>
            </a:extLst>
          </p:cNvPr>
          <p:cNvSpPr/>
          <p:nvPr/>
        </p:nvSpPr>
        <p:spPr>
          <a:xfrm>
            <a:off x="1877926" y="3116029"/>
            <a:ext cx="2636195" cy="87769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Accommodation Booking and Reservation: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D76C47-76D0-B2DF-4D47-03CFD7F22432}"/>
              </a:ext>
            </a:extLst>
          </p:cNvPr>
          <p:cNvCxnSpPr>
            <a:cxnSpLocks/>
            <a:stCxn id="254" idx="3"/>
            <a:endCxn id="250" idx="1"/>
          </p:cNvCxnSpPr>
          <p:nvPr/>
        </p:nvCxnSpPr>
        <p:spPr>
          <a:xfrm>
            <a:off x="4509161" y="1925812"/>
            <a:ext cx="1094459" cy="1629064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1C9D58-2CAE-A108-D051-A2AC086EEFC0}"/>
              </a:ext>
            </a:extLst>
          </p:cNvPr>
          <p:cNvCxnSpPr>
            <a:cxnSpLocks/>
            <a:stCxn id="250" idx="0"/>
            <a:endCxn id="32" idx="2"/>
          </p:cNvCxnSpPr>
          <p:nvPr/>
        </p:nvCxnSpPr>
        <p:spPr>
          <a:xfrm flipH="1" flipV="1">
            <a:off x="6921717" y="2118224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365BCF-54D3-C300-5852-17C6FE99323F}"/>
              </a:ext>
            </a:extLst>
          </p:cNvPr>
          <p:cNvCxnSpPr>
            <a:cxnSpLocks/>
          </p:cNvCxnSpPr>
          <p:nvPr/>
        </p:nvCxnSpPr>
        <p:spPr>
          <a:xfrm flipH="1" flipV="1">
            <a:off x="6921714" y="4242378"/>
            <a:ext cx="1" cy="72045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4349834-D8CE-5A23-6C8D-91163DFABFA5}"/>
              </a:ext>
            </a:extLst>
          </p:cNvPr>
          <p:cNvCxnSpPr>
            <a:cxnSpLocks/>
          </p:cNvCxnSpPr>
          <p:nvPr/>
        </p:nvCxnSpPr>
        <p:spPr>
          <a:xfrm flipH="1" flipV="1">
            <a:off x="4514120" y="3535614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7EBF14E-03E8-985D-1C9E-8A79CD29CC22}"/>
              </a:ext>
            </a:extLst>
          </p:cNvPr>
          <p:cNvCxnSpPr>
            <a:cxnSpLocks/>
          </p:cNvCxnSpPr>
          <p:nvPr/>
        </p:nvCxnSpPr>
        <p:spPr>
          <a:xfrm flipH="1" flipV="1">
            <a:off x="8247919" y="3553720"/>
            <a:ext cx="1081389" cy="1926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EDC0E7-2C5A-1838-7737-3A360DBA9D36}"/>
              </a:ext>
            </a:extLst>
          </p:cNvPr>
          <p:cNvSpPr/>
          <p:nvPr/>
        </p:nvSpPr>
        <p:spPr>
          <a:xfrm>
            <a:off x="194946" y="3282798"/>
            <a:ext cx="1386044" cy="5803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 Accounting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3567F5-F65F-1B47-8ED9-8B77E1447D36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1582231" y="3554875"/>
            <a:ext cx="295695" cy="18843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4A97F8-7454-9446-35E1-AC7B6FB409B9}"/>
              </a:ext>
            </a:extLst>
          </p:cNvPr>
          <p:cNvSpPr/>
          <p:nvPr/>
        </p:nvSpPr>
        <p:spPr>
          <a:xfrm>
            <a:off x="9324346" y="5666599"/>
            <a:ext cx="2636195" cy="679880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Dash board, Reports, Alerts and Reminders: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etc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820EBE-236D-6FD1-3766-E01A1E9CC01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252883" y="3613080"/>
            <a:ext cx="1071463" cy="2393459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DE541B-9BF0-3640-1FB1-029D7107BECE}"/>
              </a:ext>
            </a:extLst>
          </p:cNvPr>
          <p:cNvSpPr/>
          <p:nvPr/>
        </p:nvSpPr>
        <p:spPr>
          <a:xfrm>
            <a:off x="1877926" y="5666604"/>
            <a:ext cx="2631235" cy="67987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Daily POB reports: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59322B-4B61-A0E4-F8DC-F7A67453A56D}"/>
              </a:ext>
            </a:extLst>
          </p:cNvPr>
          <p:cNvCxnSpPr>
            <a:cxnSpLocks/>
            <a:stCxn id="15" idx="3"/>
            <a:endCxn id="250" idx="1"/>
          </p:cNvCxnSpPr>
          <p:nvPr/>
        </p:nvCxnSpPr>
        <p:spPr>
          <a:xfrm flipV="1">
            <a:off x="4509161" y="3554876"/>
            <a:ext cx="1094459" cy="2451664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87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33B5171-6B44-61D4-AF3E-36F0839546F3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4785017" y="2491637"/>
            <a:ext cx="6533" cy="321270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832D07-F589-0CBC-2927-83216C876014}"/>
              </a:ext>
            </a:extLst>
          </p:cNvPr>
          <p:cNvSpPr/>
          <p:nvPr/>
        </p:nvSpPr>
        <p:spPr>
          <a:xfrm>
            <a:off x="3970676" y="1234607"/>
            <a:ext cx="1641749" cy="547566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Project Creation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project name, lead, dates, </a:t>
            </a:r>
            <a:r>
              <a:rPr lang="en-US" sz="1200" dirty="0" err="1">
                <a:solidFill>
                  <a:schemeClr val="tx1"/>
                </a:solidFill>
              </a:rPr>
              <a:t>etc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F727C9-661B-A1DD-4FD8-519607D22067}"/>
              </a:ext>
            </a:extLst>
          </p:cNvPr>
          <p:cNvSpPr/>
          <p:nvPr/>
        </p:nvSpPr>
        <p:spPr>
          <a:xfrm>
            <a:off x="3814926" y="2003180"/>
            <a:ext cx="1953247" cy="48845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Resources Allocation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From Inventory App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948C8D-9708-FCE6-0E67-BFECFEE05607}"/>
              </a:ext>
            </a:extLst>
          </p:cNvPr>
          <p:cNvSpPr/>
          <p:nvPr/>
        </p:nvSpPr>
        <p:spPr>
          <a:xfrm>
            <a:off x="3892800" y="3571997"/>
            <a:ext cx="1797498" cy="56901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Project Planning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Create tasks, milestones, </a:t>
            </a:r>
            <a:r>
              <a:rPr lang="en-US" sz="1200" dirty="0" err="1">
                <a:solidFill>
                  <a:schemeClr val="tx1"/>
                </a:solidFill>
              </a:rPr>
              <a:t>etc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DFA203-A2E1-2AF8-623B-22823BE77F41}"/>
              </a:ext>
            </a:extLst>
          </p:cNvPr>
          <p:cNvSpPr/>
          <p:nvPr/>
        </p:nvSpPr>
        <p:spPr>
          <a:xfrm>
            <a:off x="4098531" y="2812907"/>
            <a:ext cx="1372972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Available in Inv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03847D-FF7D-7E4C-D30E-AF6EF44677FA}"/>
              </a:ext>
            </a:extLst>
          </p:cNvPr>
          <p:cNvSpPr/>
          <p:nvPr/>
        </p:nvSpPr>
        <p:spPr>
          <a:xfrm>
            <a:off x="6262461" y="5737359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Notification, alerts, reports, Dash board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31C3FD80-48BE-CBF8-0256-B0D80AACB2C4}"/>
              </a:ext>
            </a:extLst>
          </p:cNvPr>
          <p:cNvCxnSpPr>
            <a:cxnSpLocks/>
            <a:stCxn id="5" idx="3"/>
            <a:endCxn id="21" idx="0"/>
          </p:cNvCxnSpPr>
          <p:nvPr/>
        </p:nvCxnSpPr>
        <p:spPr>
          <a:xfrm>
            <a:off x="5768173" y="2247409"/>
            <a:ext cx="1360555" cy="482608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7AC8B10C-B0CE-F408-9F0F-5B1B45CEC934}"/>
              </a:ext>
            </a:extLst>
          </p:cNvPr>
          <p:cNvSpPr txBox="1">
            <a:spLocks/>
          </p:cNvSpPr>
          <p:nvPr/>
        </p:nvSpPr>
        <p:spPr>
          <a:xfrm>
            <a:off x="612648" y="874103"/>
            <a:ext cx="7603060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3.7	Projects, Services and Equipment Rental App (</a:t>
            </a:r>
            <a:r>
              <a:rPr lang="en-US" sz="1400" dirty="0">
                <a:solidFill>
                  <a:srgbClr val="FF0000"/>
                </a:solidFill>
              </a:rPr>
              <a:t>Needs Build</a:t>
            </a:r>
            <a:r>
              <a:rPr lang="en-US" sz="1400" dirty="0"/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647782-72D7-97B7-0803-8B7CB1C5DF9E}"/>
              </a:ext>
            </a:extLst>
          </p:cNvPr>
          <p:cNvSpPr/>
          <p:nvPr/>
        </p:nvSpPr>
        <p:spPr>
          <a:xfrm>
            <a:off x="2154210" y="2814163"/>
            <a:ext cx="1372972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Not Available in </a:t>
            </a:r>
            <a:r>
              <a:rPr lang="en-US" sz="1200" dirty="0">
                <a:solidFill>
                  <a:schemeClr val="tx1"/>
                </a:solidFill>
              </a:rPr>
              <a:t>Rent from Out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F823A3-2F24-DC3B-ECCF-9AABB644F29C}"/>
              </a:ext>
            </a:extLst>
          </p:cNvPr>
          <p:cNvSpPr/>
          <p:nvPr/>
        </p:nvSpPr>
        <p:spPr>
          <a:xfrm>
            <a:off x="6157989" y="2730017"/>
            <a:ext cx="1941478" cy="492325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Rent Out Our Equipment to Others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0C1CA1C-F547-87B8-4C0C-2348304F3DD0}"/>
              </a:ext>
            </a:extLst>
          </p:cNvPr>
          <p:cNvSpPr/>
          <p:nvPr/>
        </p:nvSpPr>
        <p:spPr>
          <a:xfrm>
            <a:off x="4099436" y="4409923"/>
            <a:ext cx="1384226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Project Tracking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D484BB-4A37-9CB9-DC0C-26B842150CFA}"/>
              </a:ext>
            </a:extLst>
          </p:cNvPr>
          <p:cNvSpPr/>
          <p:nvPr/>
        </p:nvSpPr>
        <p:spPr>
          <a:xfrm>
            <a:off x="4099436" y="5038225"/>
            <a:ext cx="1384226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Contracts Management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50CABDC-9B25-CDDE-D1FC-EF214EB59A4F}"/>
              </a:ext>
            </a:extLst>
          </p:cNvPr>
          <p:cNvSpPr/>
          <p:nvPr/>
        </p:nvSpPr>
        <p:spPr>
          <a:xfrm>
            <a:off x="4099436" y="5830371"/>
            <a:ext cx="1384226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Invoicing Vs Contract Value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03C232E-B6C6-02E2-D9DE-15A811EF3458}"/>
              </a:ext>
            </a:extLst>
          </p:cNvPr>
          <p:cNvCxnSpPr>
            <a:cxnSpLocks/>
            <a:stCxn id="5" idx="1"/>
            <a:endCxn id="20" idx="0"/>
          </p:cNvCxnSpPr>
          <p:nvPr/>
        </p:nvCxnSpPr>
        <p:spPr>
          <a:xfrm rot="10800000" flipV="1">
            <a:off x="2840696" y="2247409"/>
            <a:ext cx="974230" cy="566754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C3BA33E8-2BD7-74D0-A71B-27E8B1797C6A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 rot="16200000" flipH="1">
            <a:off x="3644219" y="2424667"/>
            <a:ext cx="343806" cy="1950853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0C861CA3-D3D5-5092-F36E-1BC4F8CAAB6F}"/>
              </a:ext>
            </a:extLst>
          </p:cNvPr>
          <p:cNvCxnSpPr>
            <a:cxnSpLocks/>
            <a:stCxn id="37" idx="2"/>
            <a:endCxn id="22" idx="3"/>
          </p:cNvCxnSpPr>
          <p:nvPr/>
        </p:nvCxnSpPr>
        <p:spPr>
          <a:xfrm rot="5400000">
            <a:off x="5851124" y="3698640"/>
            <a:ext cx="550836" cy="1285759"/>
          </a:xfrm>
          <a:prstGeom prst="bentConnector2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085AC529-8F54-FE61-20E1-5D19E5584E5F}"/>
              </a:ext>
            </a:extLst>
          </p:cNvPr>
          <p:cNvCxnSpPr>
            <a:cxnSpLocks/>
          </p:cNvCxnSpPr>
          <p:nvPr/>
        </p:nvCxnSpPr>
        <p:spPr>
          <a:xfrm flipH="1">
            <a:off x="4788282" y="3229059"/>
            <a:ext cx="6533" cy="321270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DE8374F1-6DA9-7D66-A4E2-44C5C90C96C2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791548" y="4002277"/>
            <a:ext cx="1" cy="407646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F473865D-CF7D-8D58-D7FE-E3F8E5C6E16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4791549" y="4823951"/>
            <a:ext cx="0" cy="214274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146C42E-9AE3-E13C-4AB9-EC6B7E98BF50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4791549" y="5452253"/>
            <a:ext cx="0" cy="378118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358DC57-82B2-CFF2-C699-AD272CB14AF8}"/>
              </a:ext>
            </a:extLst>
          </p:cNvPr>
          <p:cNvSpPr/>
          <p:nvPr/>
        </p:nvSpPr>
        <p:spPr>
          <a:xfrm>
            <a:off x="6077308" y="3652073"/>
            <a:ext cx="1384226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Equipment Tracking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A3437F4-8D38-4FF3-CC9B-01DD215DD936}"/>
              </a:ext>
            </a:extLst>
          </p:cNvPr>
          <p:cNvCxnSpPr>
            <a:cxnSpLocks/>
            <a:stCxn id="21" idx="2"/>
            <a:endCxn id="37" idx="0"/>
          </p:cNvCxnSpPr>
          <p:nvPr/>
        </p:nvCxnSpPr>
        <p:spPr>
          <a:xfrm rot="5400000">
            <a:off x="6734210" y="3257554"/>
            <a:ext cx="429731" cy="359307"/>
          </a:xfrm>
          <a:prstGeom prst="bentConnector3">
            <a:avLst>
              <a:gd name="adj1" fmla="val 50000"/>
            </a:avLst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90F5A0-66AF-0B00-06F8-B22E5302D367}"/>
              </a:ext>
            </a:extLst>
          </p:cNvPr>
          <p:cNvCxnSpPr>
            <a:cxnSpLocks/>
            <a:stCxn id="24" idx="3"/>
            <a:endCxn id="17" idx="1"/>
          </p:cNvCxnSpPr>
          <p:nvPr/>
        </p:nvCxnSpPr>
        <p:spPr>
          <a:xfrm flipV="1">
            <a:off x="5483662" y="6027541"/>
            <a:ext cx="778799" cy="9844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22C8FEB-944F-EC14-AF05-799082DDF926}"/>
              </a:ext>
            </a:extLst>
          </p:cNvPr>
          <p:cNvSpPr/>
          <p:nvPr/>
        </p:nvSpPr>
        <p:spPr>
          <a:xfrm>
            <a:off x="1916402" y="5747203"/>
            <a:ext cx="1386044" cy="58036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 Accounting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90D4ADD-C7E7-FD7C-6440-E65CDC141717}"/>
              </a:ext>
            </a:extLst>
          </p:cNvPr>
          <p:cNvCxnSpPr>
            <a:cxnSpLocks/>
            <a:stCxn id="24" idx="1"/>
            <a:endCxn id="50" idx="3"/>
          </p:cNvCxnSpPr>
          <p:nvPr/>
        </p:nvCxnSpPr>
        <p:spPr>
          <a:xfrm flipH="1">
            <a:off x="3302446" y="6037385"/>
            <a:ext cx="796990" cy="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36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D84-3BCD-842E-7D58-C79A7BD8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76" y="324315"/>
            <a:ext cx="10653578" cy="580364"/>
          </a:xfrm>
        </p:spPr>
        <p:txBody>
          <a:bodyPr>
            <a:normAutofit fontScale="90000"/>
          </a:bodyPr>
          <a:lstStyle/>
          <a:p>
            <a:r>
              <a:rPr lang="en-US" dirty="0"/>
              <a:t>3.0 	 Cloud Management System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C8B10C-B0CE-F408-9F0F-5B1B45CEC934}"/>
              </a:ext>
            </a:extLst>
          </p:cNvPr>
          <p:cNvSpPr txBox="1">
            <a:spLocks/>
          </p:cNvSpPr>
          <p:nvPr/>
        </p:nvSpPr>
        <p:spPr>
          <a:xfrm>
            <a:off x="612648" y="874103"/>
            <a:ext cx="7603060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3.8	Logistics App (</a:t>
            </a:r>
            <a:r>
              <a:rPr lang="en-US" sz="1400" dirty="0">
                <a:solidFill>
                  <a:srgbClr val="FF0000"/>
                </a:solidFill>
              </a:rPr>
              <a:t>Needs Re-build</a:t>
            </a:r>
            <a:r>
              <a:rPr lang="en-US" sz="1400" dirty="0"/>
              <a:t>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BA30A7-5839-85E1-58B3-A4BE9E402054}"/>
              </a:ext>
            </a:extLst>
          </p:cNvPr>
          <p:cNvSpPr/>
          <p:nvPr/>
        </p:nvSpPr>
        <p:spPr>
          <a:xfrm>
            <a:off x="5262790" y="2761746"/>
            <a:ext cx="1218550" cy="9199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Items DB: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Embedded from Inventory App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5CF0B2-D15E-8DD2-1CAB-2DB9B5D449CA}"/>
              </a:ext>
            </a:extLst>
          </p:cNvPr>
          <p:cNvSpPr/>
          <p:nvPr/>
        </p:nvSpPr>
        <p:spPr>
          <a:xfrm>
            <a:off x="2321028" y="2480946"/>
            <a:ext cx="1372972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Delivery and Stock note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047B3B-0D0A-8D1E-5FC6-C34854805D55}"/>
              </a:ext>
            </a:extLst>
          </p:cNvPr>
          <p:cNvSpPr/>
          <p:nvPr/>
        </p:nvSpPr>
        <p:spPr>
          <a:xfrm>
            <a:off x="2421072" y="3737651"/>
            <a:ext cx="1372972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Shipments Management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E1A828-EA88-4447-E7B6-DB9052472792}"/>
              </a:ext>
            </a:extLst>
          </p:cNvPr>
          <p:cNvSpPr/>
          <p:nvPr/>
        </p:nvSpPr>
        <p:spPr>
          <a:xfrm>
            <a:off x="2368504" y="5068687"/>
            <a:ext cx="1524655" cy="64086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Vehicle Management (Insurance,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25715A-443D-CE2D-E090-B992D704F5B1}"/>
              </a:ext>
            </a:extLst>
          </p:cNvPr>
          <p:cNvSpPr/>
          <p:nvPr/>
        </p:nvSpPr>
        <p:spPr>
          <a:xfrm>
            <a:off x="6573983" y="4944515"/>
            <a:ext cx="1524655" cy="64086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Vehicle Maintenance (connect to MRO)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F7382F-4179-CE25-237E-5D863B00AE5D}"/>
              </a:ext>
            </a:extLst>
          </p:cNvPr>
          <p:cNvSpPr/>
          <p:nvPr/>
        </p:nvSpPr>
        <p:spPr>
          <a:xfrm>
            <a:off x="8017719" y="2894974"/>
            <a:ext cx="1524655" cy="64086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Driver allocation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7060CE-F2BF-7DF0-3997-1B91C77565B2}"/>
              </a:ext>
            </a:extLst>
          </p:cNvPr>
          <p:cNvSpPr/>
          <p:nvPr/>
        </p:nvSpPr>
        <p:spPr>
          <a:xfrm>
            <a:off x="8017719" y="1287569"/>
            <a:ext cx="1524655" cy="640861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Incident Reporting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8D1640-89FA-A92D-1F49-571EE3F1AEE5}"/>
              </a:ext>
            </a:extLst>
          </p:cNvPr>
          <p:cNvSpPr/>
          <p:nvPr/>
        </p:nvSpPr>
        <p:spPr>
          <a:xfrm>
            <a:off x="4042275" y="1362671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Notification, alerts, reports, Dash board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0325C6-42D9-3CB3-9D50-92FECE04D7A1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5872065" y="3681675"/>
            <a:ext cx="1464246" cy="1262840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6EBC2992-19FA-2DFB-56C6-13555386858E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6481340" y="3215405"/>
            <a:ext cx="1536379" cy="6306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77FC39D-CCDE-C526-6AB4-977A8082245B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5872065" y="1608000"/>
            <a:ext cx="2145654" cy="1153746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32DDF0AB-EB16-B5CD-4909-31175C8746D9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3893159" y="3221711"/>
            <a:ext cx="1369631" cy="2167407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1C088F4C-EFE5-0104-71DD-D789E6F54F20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3794044" y="3221711"/>
            <a:ext cx="1468746" cy="722954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31A7DC62-D785-477B-E646-FFA520256BAE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694000" y="2687960"/>
            <a:ext cx="1568790" cy="533751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B8132474-AD09-77C4-EB1E-AC294FE8F564}"/>
              </a:ext>
            </a:extLst>
          </p:cNvPr>
          <p:cNvCxnSpPr>
            <a:cxnSpLocks/>
            <a:stCxn id="26" idx="3"/>
            <a:endCxn id="7" idx="1"/>
          </p:cNvCxnSpPr>
          <p:nvPr/>
        </p:nvCxnSpPr>
        <p:spPr>
          <a:xfrm flipH="1">
            <a:off x="5262790" y="1652853"/>
            <a:ext cx="732732" cy="1568858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318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6C0-1346-7A20-223C-0A2386CD3F2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2648" y="6458673"/>
            <a:ext cx="10929320" cy="0"/>
          </a:xfrm>
          <a:prstGeom prst="line">
            <a:avLst/>
          </a:prstGeom>
          <a:ln w="25400">
            <a:solidFill>
              <a:srgbClr val="697D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ject 123">
            <a:extLst>
              <a:ext uri="{FF2B5EF4-FFF2-40B4-BE49-F238E27FC236}">
                <a16:creationId xmlns:a16="http://schemas.microsoft.com/office/drawing/2014/main" id="{67FC240D-F1AB-E5C4-5B32-AB5BADF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358944" y="6458673"/>
            <a:ext cx="681596" cy="29846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832D07-F589-0CBC-2927-83216C876014}"/>
              </a:ext>
            </a:extLst>
          </p:cNvPr>
          <p:cNvSpPr/>
          <p:nvPr/>
        </p:nvSpPr>
        <p:spPr>
          <a:xfrm>
            <a:off x="3925740" y="1112314"/>
            <a:ext cx="2578980" cy="547566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Vendor Registration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Company details, certifications, references, </a:t>
            </a:r>
            <a:r>
              <a:rPr lang="en-US" sz="1200" dirty="0" err="1">
                <a:solidFill>
                  <a:schemeClr val="tx1"/>
                </a:solidFill>
              </a:rPr>
              <a:t>etc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948C8D-9708-FCE6-0E67-BFECFEE05607}"/>
              </a:ext>
            </a:extLst>
          </p:cNvPr>
          <p:cNvSpPr/>
          <p:nvPr/>
        </p:nvSpPr>
        <p:spPr>
          <a:xfrm>
            <a:off x="4316481" y="1965911"/>
            <a:ext cx="1797498" cy="56901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Call for tendering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03847D-FF7D-7E4C-D30E-AF6EF44677FA}"/>
              </a:ext>
            </a:extLst>
          </p:cNvPr>
          <p:cNvSpPr/>
          <p:nvPr/>
        </p:nvSpPr>
        <p:spPr>
          <a:xfrm>
            <a:off x="8909333" y="5437935"/>
            <a:ext cx="1953247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Notification, alerts, reports, Dashboard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C8B10C-B0CE-F408-9F0F-5B1B45CEC934}"/>
              </a:ext>
            </a:extLst>
          </p:cNvPr>
          <p:cNvSpPr txBox="1">
            <a:spLocks/>
          </p:cNvSpPr>
          <p:nvPr/>
        </p:nvSpPr>
        <p:spPr>
          <a:xfrm>
            <a:off x="621566" y="810127"/>
            <a:ext cx="8339966" cy="3440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3.9	</a:t>
            </a:r>
            <a:r>
              <a:rPr lang="fr-FR" sz="1400" b="1" dirty="0"/>
              <a:t>OEC-International </a:t>
            </a:r>
            <a:r>
              <a:rPr lang="fr-FR" sz="1400" b="1" dirty="0" err="1"/>
              <a:t>Purchasing</a:t>
            </a:r>
            <a:r>
              <a:rPr lang="fr-FR" sz="1400" b="1" dirty="0"/>
              <a:t> 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Needs Build</a:t>
            </a:r>
            <a:r>
              <a:rPr lang="en-US" sz="1400" dirty="0"/>
              <a:t>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D484BB-4A37-9CB9-DC0C-26B842150CFA}"/>
              </a:ext>
            </a:extLst>
          </p:cNvPr>
          <p:cNvSpPr/>
          <p:nvPr/>
        </p:nvSpPr>
        <p:spPr>
          <a:xfrm>
            <a:off x="4313474" y="4643305"/>
            <a:ext cx="1797497" cy="49368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Vendor Performance Tracking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50CABDC-9B25-CDDE-D1FC-EF214EB59A4F}"/>
              </a:ext>
            </a:extLst>
          </p:cNvPr>
          <p:cNvSpPr/>
          <p:nvPr/>
        </p:nvSpPr>
        <p:spPr>
          <a:xfrm>
            <a:off x="6869698" y="4683133"/>
            <a:ext cx="1384226" cy="414028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Vendor Blacklisting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9F1DC0-7A3E-9094-5655-E129855630C9}"/>
              </a:ext>
            </a:extLst>
          </p:cNvPr>
          <p:cNvSpPr/>
          <p:nvPr/>
        </p:nvSpPr>
        <p:spPr>
          <a:xfrm>
            <a:off x="4313473" y="2822515"/>
            <a:ext cx="1797498" cy="56901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Bid Evaluation &amp; Award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29E814-3ED4-3ED3-1AC0-643B81954559}"/>
              </a:ext>
            </a:extLst>
          </p:cNvPr>
          <p:cNvSpPr/>
          <p:nvPr/>
        </p:nvSpPr>
        <p:spPr>
          <a:xfrm>
            <a:off x="4316481" y="3732142"/>
            <a:ext cx="1797498" cy="569013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Contract Generation, Approvals,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7F4CB7-C7B1-E081-51FB-2B0331AE08B7}"/>
              </a:ext>
            </a:extLst>
          </p:cNvPr>
          <p:cNvSpPr/>
          <p:nvPr/>
        </p:nvSpPr>
        <p:spPr>
          <a:xfrm>
            <a:off x="4416791" y="5443870"/>
            <a:ext cx="1590862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Vendor Collaboration &amp; MOU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C8C880-2567-3279-54E3-5BD03733CCFF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215230" y="1659880"/>
            <a:ext cx="0" cy="306031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B4B9D3-D6E8-7097-C995-C085D274F984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5212222" y="2534924"/>
            <a:ext cx="3008" cy="287591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2C19F3-BD66-0B0F-81F1-93F833495B4B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5212222" y="3391528"/>
            <a:ext cx="3008" cy="340614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296CDA16-3689-3622-0AC0-89D107395614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5212223" y="4301155"/>
            <a:ext cx="3007" cy="342150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4E602BD0-443A-44C7-286D-273D60E7E34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212222" y="5031467"/>
            <a:ext cx="0" cy="412403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3CFEB29F-541B-89E3-E9FA-590B1F0CA038}"/>
              </a:ext>
            </a:extLst>
          </p:cNvPr>
          <p:cNvSpPr/>
          <p:nvPr/>
        </p:nvSpPr>
        <p:spPr>
          <a:xfrm>
            <a:off x="6663062" y="5437935"/>
            <a:ext cx="1590862" cy="580364"/>
          </a:xfrm>
          <a:prstGeom prst="roundRect">
            <a:avLst/>
          </a:prstGeom>
          <a:solidFill>
            <a:srgbClr val="697D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Partner Status</a:t>
            </a: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B19E2ECA-4C51-ABD3-29EC-218FC17775B1}"/>
              </a:ext>
            </a:extLst>
          </p:cNvPr>
          <p:cNvCxnSpPr>
            <a:cxnSpLocks/>
            <a:stCxn id="242" idx="1"/>
            <a:endCxn id="15" idx="3"/>
          </p:cNvCxnSpPr>
          <p:nvPr/>
        </p:nvCxnSpPr>
        <p:spPr>
          <a:xfrm flipH="1">
            <a:off x="6007653" y="5728117"/>
            <a:ext cx="655409" cy="5935"/>
          </a:xfrm>
          <a:prstGeom prst="straightConnector1">
            <a:avLst/>
          </a:prstGeom>
          <a:ln w="19050">
            <a:solidFill>
              <a:srgbClr val="697D3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04CA46FD-37FF-048A-93AD-D8134BA84110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6110971" y="4890147"/>
            <a:ext cx="758727" cy="0"/>
          </a:xfrm>
          <a:prstGeom prst="straightConnector1">
            <a:avLst/>
          </a:prstGeom>
          <a:ln w="19050">
            <a:solidFill>
              <a:srgbClr val="697D3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B740429-E372-EFFF-513E-18663163C784}"/>
              </a:ext>
            </a:extLst>
          </p:cNvPr>
          <p:cNvSpPr txBox="1">
            <a:spLocks/>
          </p:cNvSpPr>
          <p:nvPr/>
        </p:nvSpPr>
        <p:spPr>
          <a:xfrm>
            <a:off x="545276" y="256661"/>
            <a:ext cx="10653578" cy="5803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3.0 	 Cloud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46812765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6743</TotalTime>
  <Words>1395</Words>
  <Application>Microsoft Office PowerPoint</Application>
  <PresentationFormat>Grand écran</PresentationFormat>
  <Paragraphs>388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ORGANIZATION STRUCTURE</vt:lpstr>
      <vt:lpstr>1.0  Corporate Structure</vt:lpstr>
      <vt:lpstr>2.0  Operational Structure</vt:lpstr>
      <vt:lpstr>2.0   Operational Structure</vt:lpstr>
      <vt:lpstr>2.0   Operational Structure</vt:lpstr>
      <vt:lpstr>2.0   Operational Structure</vt:lpstr>
      <vt:lpstr>3.0   Cloud Management System</vt:lpstr>
      <vt:lpstr>3.0   Cloud Management System</vt:lpstr>
      <vt:lpstr>3.0   Cloud Management System</vt:lpstr>
      <vt:lpstr>3.0   Cloud Management System</vt:lpstr>
      <vt:lpstr>3.0   Cloud Management System</vt:lpstr>
      <vt:lpstr>3.0   Cloud Management System</vt:lpstr>
      <vt:lpstr>3.0   Cloud Management System</vt:lpstr>
      <vt:lpstr>3.0   Cloud Management System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STRUCTURE</dc:title>
  <dc:creator>1</dc:creator>
  <cp:lastModifiedBy>hamza dahbi</cp:lastModifiedBy>
  <cp:revision>17</cp:revision>
  <dcterms:created xsi:type="dcterms:W3CDTF">2023-10-05T15:03:29Z</dcterms:created>
  <dcterms:modified xsi:type="dcterms:W3CDTF">2024-07-03T08:32:41Z</dcterms:modified>
</cp:coreProperties>
</file>